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240" r:id="rId2"/>
    <p:sldId id="2298" r:id="rId3"/>
    <p:sldId id="2300" r:id="rId4"/>
    <p:sldId id="2318" r:id="rId5"/>
    <p:sldId id="2307" r:id="rId6"/>
    <p:sldId id="2308" r:id="rId7"/>
    <p:sldId id="2302" r:id="rId8"/>
    <p:sldId id="2309" r:id="rId9"/>
    <p:sldId id="2310" r:id="rId10"/>
    <p:sldId id="2312" r:id="rId11"/>
    <p:sldId id="2313" r:id="rId12"/>
    <p:sldId id="2314" r:id="rId13"/>
    <p:sldId id="2315" r:id="rId14"/>
    <p:sldId id="2311" r:id="rId15"/>
    <p:sldId id="2316" r:id="rId16"/>
    <p:sldId id="2317" r:id="rId17"/>
  </p:sldIdLst>
  <p:sldSz cx="12192000" cy="6858000"/>
  <p:notesSz cx="6858000" cy="9144000"/>
  <p:defaultTextStyle>
    <a:defPPr>
      <a:defRPr lang="en-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B7E0"/>
    <a:srgbClr val="D5F61F"/>
    <a:srgbClr val="BFDB1A"/>
    <a:srgbClr val="7AD225"/>
    <a:srgbClr val="EB6E76"/>
    <a:srgbClr val="BED035"/>
    <a:srgbClr val="104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628"/>
    <p:restoredTop sz="96301"/>
  </p:normalViewPr>
  <p:slideViewPr>
    <p:cSldViewPr snapToGrid="0">
      <p:cViewPr>
        <p:scale>
          <a:sx n="155" d="100"/>
          <a:sy n="155" d="100"/>
        </p:scale>
        <p:origin x="-1104" y="-624"/>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E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A4ED5A-B122-654F-B268-E00C4AEF9BE3}" type="datetimeFigureOut">
              <a:rPr lang="en-EE" smtClean="0"/>
              <a:t>05.02.2026</a:t>
            </a:fld>
            <a:endParaRPr lang="en-E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E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E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4CAB53-52DE-D145-AE5E-81261651E869}" type="slidenum">
              <a:rPr lang="en-EE" smtClean="0"/>
              <a:t>‹#›</a:t>
            </a:fld>
            <a:endParaRPr lang="en-EE"/>
          </a:p>
        </p:txBody>
      </p:sp>
    </p:spTree>
    <p:extLst>
      <p:ext uri="{BB962C8B-B14F-4D97-AF65-F5344CB8AC3E}">
        <p14:creationId xmlns:p14="http://schemas.microsoft.com/office/powerpoint/2010/main" val="2204571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EE"/>
          </a:p>
        </p:txBody>
      </p:sp>
      <p:sp>
        <p:nvSpPr>
          <p:cNvPr id="3" name="Notes Placeholder 2"/>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p:cNvSpPr>
            <a:spLocks noGrp="1"/>
          </p:cNvSpPr>
          <p:nvPr>
            <p:ph type="sldNum" sz="quarter" idx="5"/>
          </p:nvPr>
        </p:nvSpPr>
        <p:spPr/>
        <p:txBody>
          <a:bodyPr/>
          <a:lstStyle/>
          <a:p>
            <a:fld id="{AD4CAB53-52DE-D145-AE5E-81261651E869}" type="slidenum">
              <a:rPr lang="en-EE" smtClean="0"/>
              <a:t>1</a:t>
            </a:fld>
            <a:endParaRPr lang="en-EE"/>
          </a:p>
        </p:txBody>
      </p:sp>
    </p:spTree>
    <p:extLst>
      <p:ext uri="{BB962C8B-B14F-4D97-AF65-F5344CB8AC3E}">
        <p14:creationId xmlns:p14="http://schemas.microsoft.com/office/powerpoint/2010/main" val="42035325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66A62-4021-D620-0EB6-E5F25583EB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B1C59A-E31A-17F1-CD3F-A1ED65AC0832}"/>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C4E4036C-2E14-B645-9CCF-9A4B3EBF1B1C}"/>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759A6E3D-8B86-58B9-B48C-47D6BEF62565}"/>
              </a:ext>
            </a:extLst>
          </p:cNvPr>
          <p:cNvSpPr>
            <a:spLocks noGrp="1"/>
          </p:cNvSpPr>
          <p:nvPr>
            <p:ph type="sldNum" sz="quarter" idx="5"/>
          </p:nvPr>
        </p:nvSpPr>
        <p:spPr/>
        <p:txBody>
          <a:bodyPr/>
          <a:lstStyle/>
          <a:p>
            <a:fld id="{AD4CAB53-52DE-D145-AE5E-81261651E869}" type="slidenum">
              <a:rPr lang="en-EE" smtClean="0"/>
              <a:t>2</a:t>
            </a:fld>
            <a:endParaRPr lang="en-EE"/>
          </a:p>
        </p:txBody>
      </p:sp>
    </p:spTree>
    <p:extLst>
      <p:ext uri="{BB962C8B-B14F-4D97-AF65-F5344CB8AC3E}">
        <p14:creationId xmlns:p14="http://schemas.microsoft.com/office/powerpoint/2010/main" val="37840597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1C042-D62A-3D49-8805-96B4669480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E75D8-41D0-BB6F-E689-E95B4E8D7957}"/>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0E246B3A-ADDA-35F2-63BE-C5F587182328}"/>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5538FF26-752F-4C91-8447-BC7424035A39}"/>
              </a:ext>
            </a:extLst>
          </p:cNvPr>
          <p:cNvSpPr>
            <a:spLocks noGrp="1"/>
          </p:cNvSpPr>
          <p:nvPr>
            <p:ph type="sldNum" sz="quarter" idx="5"/>
          </p:nvPr>
        </p:nvSpPr>
        <p:spPr/>
        <p:txBody>
          <a:bodyPr/>
          <a:lstStyle/>
          <a:p>
            <a:fld id="{AD4CAB53-52DE-D145-AE5E-81261651E869}" type="slidenum">
              <a:rPr lang="en-EE" smtClean="0"/>
              <a:t>3</a:t>
            </a:fld>
            <a:endParaRPr lang="en-EE"/>
          </a:p>
        </p:txBody>
      </p:sp>
    </p:spTree>
    <p:extLst>
      <p:ext uri="{BB962C8B-B14F-4D97-AF65-F5344CB8AC3E}">
        <p14:creationId xmlns:p14="http://schemas.microsoft.com/office/powerpoint/2010/main" val="11709886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D5B29-E6FD-A1C3-B341-5E2FA81CA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A57DE2-89EF-8408-1E11-6ABA5E33614A}"/>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97F605A8-17A0-2E39-B8FA-342BAFCAC248}"/>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259E37F6-6296-42D4-0E85-B5A03E0937F2}"/>
              </a:ext>
            </a:extLst>
          </p:cNvPr>
          <p:cNvSpPr>
            <a:spLocks noGrp="1"/>
          </p:cNvSpPr>
          <p:nvPr>
            <p:ph type="sldNum" sz="quarter" idx="5"/>
          </p:nvPr>
        </p:nvSpPr>
        <p:spPr/>
        <p:txBody>
          <a:bodyPr/>
          <a:lstStyle/>
          <a:p>
            <a:fld id="{AD4CAB53-52DE-D145-AE5E-81261651E869}" type="slidenum">
              <a:rPr lang="en-EE" smtClean="0"/>
              <a:t>4</a:t>
            </a:fld>
            <a:endParaRPr lang="en-EE"/>
          </a:p>
        </p:txBody>
      </p:sp>
    </p:spTree>
    <p:extLst>
      <p:ext uri="{BB962C8B-B14F-4D97-AF65-F5344CB8AC3E}">
        <p14:creationId xmlns:p14="http://schemas.microsoft.com/office/powerpoint/2010/main" val="29543102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4A473-31D8-7AF1-4C14-1A3D2FCF08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99575-D6E4-FE94-C8F0-4318AA8E7E96}"/>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727DFB00-A934-3A1E-0F01-F87E78325F00}"/>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F1D8C90D-21E2-C3F0-99EE-31E71BE13A58}"/>
              </a:ext>
            </a:extLst>
          </p:cNvPr>
          <p:cNvSpPr>
            <a:spLocks noGrp="1"/>
          </p:cNvSpPr>
          <p:nvPr>
            <p:ph type="sldNum" sz="quarter" idx="5"/>
          </p:nvPr>
        </p:nvSpPr>
        <p:spPr/>
        <p:txBody>
          <a:bodyPr/>
          <a:lstStyle/>
          <a:p>
            <a:fld id="{AD4CAB53-52DE-D145-AE5E-81261651E869}" type="slidenum">
              <a:rPr lang="en-EE" smtClean="0"/>
              <a:t>5</a:t>
            </a:fld>
            <a:endParaRPr lang="en-EE"/>
          </a:p>
        </p:txBody>
      </p:sp>
    </p:spTree>
    <p:extLst>
      <p:ext uri="{BB962C8B-B14F-4D97-AF65-F5344CB8AC3E}">
        <p14:creationId xmlns:p14="http://schemas.microsoft.com/office/powerpoint/2010/main" val="18082067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F30D8-3E81-8666-6E98-E5EC3BB4B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B570A-B4D4-D932-098F-1D9C4B0E6E2F}"/>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CA80A5EB-D331-B6F2-85BB-A3B8AD55E55B}"/>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8B6BE445-47EE-9A2A-DC10-6F94C6334C21}"/>
              </a:ext>
            </a:extLst>
          </p:cNvPr>
          <p:cNvSpPr>
            <a:spLocks noGrp="1"/>
          </p:cNvSpPr>
          <p:nvPr>
            <p:ph type="sldNum" sz="quarter" idx="5"/>
          </p:nvPr>
        </p:nvSpPr>
        <p:spPr/>
        <p:txBody>
          <a:bodyPr/>
          <a:lstStyle/>
          <a:p>
            <a:fld id="{AD4CAB53-52DE-D145-AE5E-81261651E869}" type="slidenum">
              <a:rPr lang="en-EE" smtClean="0"/>
              <a:t>6</a:t>
            </a:fld>
            <a:endParaRPr lang="en-EE"/>
          </a:p>
        </p:txBody>
      </p:sp>
    </p:spTree>
    <p:extLst>
      <p:ext uri="{BB962C8B-B14F-4D97-AF65-F5344CB8AC3E}">
        <p14:creationId xmlns:p14="http://schemas.microsoft.com/office/powerpoint/2010/main" val="1513312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5FFF7-A31D-AC8A-E119-0D4008DE5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D86AB-1C26-9193-2E46-340A859B3318}"/>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DE7F839A-23CE-A81A-88D3-206742973655}"/>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5C0E5AB3-6CC9-7806-CD79-A4DA4E8D8977}"/>
              </a:ext>
            </a:extLst>
          </p:cNvPr>
          <p:cNvSpPr>
            <a:spLocks noGrp="1"/>
          </p:cNvSpPr>
          <p:nvPr>
            <p:ph type="sldNum" sz="quarter" idx="5"/>
          </p:nvPr>
        </p:nvSpPr>
        <p:spPr/>
        <p:txBody>
          <a:bodyPr/>
          <a:lstStyle/>
          <a:p>
            <a:fld id="{AD4CAB53-52DE-D145-AE5E-81261651E869}" type="slidenum">
              <a:rPr lang="en-EE" smtClean="0"/>
              <a:t>7</a:t>
            </a:fld>
            <a:endParaRPr lang="en-EE"/>
          </a:p>
        </p:txBody>
      </p:sp>
    </p:spTree>
    <p:extLst>
      <p:ext uri="{BB962C8B-B14F-4D97-AF65-F5344CB8AC3E}">
        <p14:creationId xmlns:p14="http://schemas.microsoft.com/office/powerpoint/2010/main" val="29941798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245E3-8E46-F287-6E8B-984A433FA4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FD3611-DEA5-C6F1-B2AC-DF847F020FCB}"/>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71E3DC53-1272-035E-F3D6-A9EC318BBB75}"/>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F7BD5CB7-1282-E396-4369-BE7A9EF951F8}"/>
              </a:ext>
            </a:extLst>
          </p:cNvPr>
          <p:cNvSpPr>
            <a:spLocks noGrp="1"/>
          </p:cNvSpPr>
          <p:nvPr>
            <p:ph type="sldNum" sz="quarter" idx="5"/>
          </p:nvPr>
        </p:nvSpPr>
        <p:spPr/>
        <p:txBody>
          <a:bodyPr/>
          <a:lstStyle/>
          <a:p>
            <a:fld id="{AD4CAB53-52DE-D145-AE5E-81261651E869}" type="slidenum">
              <a:rPr lang="en-EE" smtClean="0"/>
              <a:t>8</a:t>
            </a:fld>
            <a:endParaRPr lang="en-EE"/>
          </a:p>
        </p:txBody>
      </p:sp>
    </p:spTree>
    <p:extLst>
      <p:ext uri="{BB962C8B-B14F-4D97-AF65-F5344CB8AC3E}">
        <p14:creationId xmlns:p14="http://schemas.microsoft.com/office/powerpoint/2010/main" val="339631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8C8EB-B7B0-E687-D5B0-A7F72DFFD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C92645-F17D-E85A-48C1-F8768E3577CD}"/>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502CC702-87EC-AC2C-DA7F-05DE0379FB94}"/>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90293B66-D41D-AA81-04B7-AFDFE020D015}"/>
              </a:ext>
            </a:extLst>
          </p:cNvPr>
          <p:cNvSpPr>
            <a:spLocks noGrp="1"/>
          </p:cNvSpPr>
          <p:nvPr>
            <p:ph type="sldNum" sz="quarter" idx="5"/>
          </p:nvPr>
        </p:nvSpPr>
        <p:spPr/>
        <p:txBody>
          <a:bodyPr/>
          <a:lstStyle/>
          <a:p>
            <a:fld id="{AD4CAB53-52DE-D145-AE5E-81261651E869}" type="slidenum">
              <a:rPr lang="en-EE" smtClean="0"/>
              <a:t>9</a:t>
            </a:fld>
            <a:endParaRPr lang="en-EE"/>
          </a:p>
        </p:txBody>
      </p:sp>
    </p:spTree>
    <p:extLst>
      <p:ext uri="{BB962C8B-B14F-4D97-AF65-F5344CB8AC3E}">
        <p14:creationId xmlns:p14="http://schemas.microsoft.com/office/powerpoint/2010/main" val="895451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A9A1A-DA87-88B9-6D58-29B292CBF5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FF18B8-AE48-CB57-8B56-5B1A01CDCD9E}"/>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DC6270D5-2B3D-8D39-A419-7AC6AC79754E}"/>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1DBCBB01-B468-41ED-1B04-151AB64A7CCD}"/>
              </a:ext>
            </a:extLst>
          </p:cNvPr>
          <p:cNvSpPr>
            <a:spLocks noGrp="1"/>
          </p:cNvSpPr>
          <p:nvPr>
            <p:ph type="sldNum" sz="quarter" idx="5"/>
          </p:nvPr>
        </p:nvSpPr>
        <p:spPr/>
        <p:txBody>
          <a:bodyPr/>
          <a:lstStyle/>
          <a:p>
            <a:fld id="{AD4CAB53-52DE-D145-AE5E-81261651E869}" type="slidenum">
              <a:rPr lang="en-EE" smtClean="0"/>
              <a:t>10</a:t>
            </a:fld>
            <a:endParaRPr lang="en-EE"/>
          </a:p>
        </p:txBody>
      </p:sp>
    </p:spTree>
    <p:extLst>
      <p:ext uri="{BB962C8B-B14F-4D97-AF65-F5344CB8AC3E}">
        <p14:creationId xmlns:p14="http://schemas.microsoft.com/office/powerpoint/2010/main" val="13101117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0F375-9D5D-7556-D3E1-D18ECDC8DF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75AACC-18F9-39BE-5651-69EE4778A9D9}"/>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7A5AE40B-1082-2ADB-0616-FB050EAF9BCD}"/>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8B009F27-DB24-3922-B636-5545E180395F}"/>
              </a:ext>
            </a:extLst>
          </p:cNvPr>
          <p:cNvSpPr>
            <a:spLocks noGrp="1"/>
          </p:cNvSpPr>
          <p:nvPr>
            <p:ph type="sldNum" sz="quarter" idx="5"/>
          </p:nvPr>
        </p:nvSpPr>
        <p:spPr/>
        <p:txBody>
          <a:bodyPr/>
          <a:lstStyle/>
          <a:p>
            <a:fld id="{AD4CAB53-52DE-D145-AE5E-81261651E869}" type="slidenum">
              <a:rPr lang="en-EE" smtClean="0"/>
              <a:t>11</a:t>
            </a:fld>
            <a:endParaRPr lang="en-EE"/>
          </a:p>
        </p:txBody>
      </p:sp>
    </p:spTree>
    <p:extLst>
      <p:ext uri="{BB962C8B-B14F-4D97-AF65-F5344CB8AC3E}">
        <p14:creationId xmlns:p14="http://schemas.microsoft.com/office/powerpoint/2010/main" val="3093817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828A8-FC95-509D-BCEA-0AFC8E11C7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406A54-1123-0338-13FA-F3A5900701A7}"/>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5FAF68F6-A196-7B9A-4BA1-BCFB90DE9ABF}"/>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D5F18C50-50A5-B509-FEA0-1A86CB0092E4}"/>
              </a:ext>
            </a:extLst>
          </p:cNvPr>
          <p:cNvSpPr>
            <a:spLocks noGrp="1"/>
          </p:cNvSpPr>
          <p:nvPr>
            <p:ph type="sldNum" sz="quarter" idx="5"/>
          </p:nvPr>
        </p:nvSpPr>
        <p:spPr/>
        <p:txBody>
          <a:bodyPr/>
          <a:lstStyle/>
          <a:p>
            <a:fld id="{AD4CAB53-52DE-D145-AE5E-81261651E869}" type="slidenum">
              <a:rPr lang="en-EE" smtClean="0"/>
              <a:t>12</a:t>
            </a:fld>
            <a:endParaRPr lang="en-EE"/>
          </a:p>
        </p:txBody>
      </p:sp>
    </p:spTree>
    <p:extLst>
      <p:ext uri="{BB962C8B-B14F-4D97-AF65-F5344CB8AC3E}">
        <p14:creationId xmlns:p14="http://schemas.microsoft.com/office/powerpoint/2010/main" val="408630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C7FFE-D5A6-9D9B-68D9-8B46ECB32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B6E4D-074F-767A-2DE0-367A8E587373}"/>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12976833-89FD-060C-ECB2-A8B2C3688965}"/>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31F0598E-CD03-0D6D-8CEA-E32706BA239E}"/>
              </a:ext>
            </a:extLst>
          </p:cNvPr>
          <p:cNvSpPr>
            <a:spLocks noGrp="1"/>
          </p:cNvSpPr>
          <p:nvPr>
            <p:ph type="sldNum" sz="quarter" idx="5"/>
          </p:nvPr>
        </p:nvSpPr>
        <p:spPr/>
        <p:txBody>
          <a:bodyPr/>
          <a:lstStyle/>
          <a:p>
            <a:fld id="{AD4CAB53-52DE-D145-AE5E-81261651E869}" type="slidenum">
              <a:rPr lang="en-EE" smtClean="0"/>
              <a:t>13</a:t>
            </a:fld>
            <a:endParaRPr lang="en-EE"/>
          </a:p>
        </p:txBody>
      </p:sp>
    </p:spTree>
    <p:extLst>
      <p:ext uri="{BB962C8B-B14F-4D97-AF65-F5344CB8AC3E}">
        <p14:creationId xmlns:p14="http://schemas.microsoft.com/office/powerpoint/2010/main" val="20212751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CA1FC-0531-E169-23E7-B7DD9E59D3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55257-8A97-2DE8-D7B7-7A97E9D9BA5F}"/>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0AE4C297-DAD7-578B-E4B6-59731F71FF1A}"/>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6FB61E17-A7F0-55CA-55D5-4B6A3ED9FF94}"/>
              </a:ext>
            </a:extLst>
          </p:cNvPr>
          <p:cNvSpPr>
            <a:spLocks noGrp="1"/>
          </p:cNvSpPr>
          <p:nvPr>
            <p:ph type="sldNum" sz="quarter" idx="5"/>
          </p:nvPr>
        </p:nvSpPr>
        <p:spPr/>
        <p:txBody>
          <a:bodyPr/>
          <a:lstStyle/>
          <a:p>
            <a:fld id="{AD4CAB53-52DE-D145-AE5E-81261651E869}" type="slidenum">
              <a:rPr lang="en-EE" smtClean="0"/>
              <a:t>14</a:t>
            </a:fld>
            <a:endParaRPr lang="en-EE"/>
          </a:p>
        </p:txBody>
      </p:sp>
    </p:spTree>
    <p:extLst>
      <p:ext uri="{BB962C8B-B14F-4D97-AF65-F5344CB8AC3E}">
        <p14:creationId xmlns:p14="http://schemas.microsoft.com/office/powerpoint/2010/main" val="2226094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149B1-97F6-5A8A-1503-E230AD785F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F4A6EF-19D1-0D76-9928-E3793CFD6F76}"/>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E091E971-8DC4-C961-58CB-0B24FBA0D91B}"/>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8E2EC9CA-81D6-051C-9057-F390C50ACECE}"/>
              </a:ext>
            </a:extLst>
          </p:cNvPr>
          <p:cNvSpPr>
            <a:spLocks noGrp="1"/>
          </p:cNvSpPr>
          <p:nvPr>
            <p:ph type="sldNum" sz="quarter" idx="5"/>
          </p:nvPr>
        </p:nvSpPr>
        <p:spPr/>
        <p:txBody>
          <a:bodyPr/>
          <a:lstStyle/>
          <a:p>
            <a:fld id="{AD4CAB53-52DE-D145-AE5E-81261651E869}" type="slidenum">
              <a:rPr lang="en-EE" smtClean="0"/>
              <a:t>15</a:t>
            </a:fld>
            <a:endParaRPr lang="en-EE"/>
          </a:p>
        </p:txBody>
      </p:sp>
    </p:spTree>
    <p:extLst>
      <p:ext uri="{BB962C8B-B14F-4D97-AF65-F5344CB8AC3E}">
        <p14:creationId xmlns:p14="http://schemas.microsoft.com/office/powerpoint/2010/main" val="28678870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0823E-458A-8DCC-6AED-C44B109F9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044A2-9112-EE85-2847-8A01FBBF1DD4}"/>
              </a:ext>
            </a:extLst>
          </p:cNvPr>
          <p:cNvSpPr>
            <a:spLocks noGrp="1" noRot="1" noChangeAspect="1"/>
          </p:cNvSpPr>
          <p:nvPr>
            <p:ph type="sldImg"/>
          </p:nvPr>
        </p:nvSpPr>
        <p:spPr/>
        <p:txBody>
          <a:bodyPr/>
          <a:lstStyle/>
          <a:p>
            <a:endParaRPr lang="en-EE"/>
          </a:p>
        </p:txBody>
      </p:sp>
      <p:sp>
        <p:nvSpPr>
          <p:cNvPr id="3" name="Notes Placeholder 2">
            <a:extLst>
              <a:ext uri="{FF2B5EF4-FFF2-40B4-BE49-F238E27FC236}">
                <a16:creationId xmlns:a16="http://schemas.microsoft.com/office/drawing/2014/main" id="{E89F3B3C-E95B-FFC4-DC41-52CA5DEB134E}"/>
              </a:ext>
            </a:extLst>
          </p:cNvPr>
          <p:cNvSpPr>
            <a:spLocks noGrp="1"/>
          </p:cNvSpPr>
          <p:nvPr>
            <p:ph type="body" idx="1"/>
          </p:nvPr>
        </p:nvSpPr>
        <p:spPr/>
        <p:txBody>
          <a:bodyPr/>
          <a:lstStyle/>
          <a:p>
            <a:r>
              <a:rPr lang="en-GB" sz="2400" b="0" i="0" u="none" strike="noStrike" kern="1200" dirty="0">
                <a:solidFill>
                  <a:schemeClr val="tx1"/>
                </a:solidFill>
                <a:effectLst/>
                <a:latin typeface="+mn-lt"/>
                <a:ea typeface="+mn-ea"/>
                <a:cs typeface="+mn-cs"/>
              </a:rPr>
              <a:t>Hello, my name is K. Thank you for joining me today for this </a:t>
            </a:r>
            <a:r>
              <a:rPr lang="en-GB" sz="2400" b="1" i="0" u="none" strike="noStrike" kern="1200" dirty="0">
                <a:solidFill>
                  <a:schemeClr val="tx1"/>
                </a:solidFill>
                <a:effectLst/>
                <a:latin typeface="+mn-lt"/>
                <a:ea typeface="+mn-ea"/>
                <a:cs typeface="+mn-cs"/>
              </a:rPr>
              <a:t>microbiome test lesson</a:t>
            </a:r>
            <a:r>
              <a:rPr lang="en-GB" sz="2400" b="0" i="0" u="none" strike="noStrike" kern="1200" dirty="0">
                <a:solidFill>
                  <a:schemeClr val="tx1"/>
                </a:solidFill>
                <a:effectLst/>
                <a:latin typeface="+mn-lt"/>
                <a:ea typeface="+mn-ea"/>
                <a:cs typeface="+mn-cs"/>
              </a:rPr>
              <a:t>. Today’s topic will be XX, and I must say I am very glad to have the opportunity to </a:t>
            </a:r>
            <a:r>
              <a:rPr lang="en-GB" sz="2400" b="1" i="0" u="none" strike="noStrike" kern="1200" dirty="0">
                <a:solidFill>
                  <a:schemeClr val="tx1"/>
                </a:solidFill>
                <a:effectLst/>
                <a:latin typeface="+mn-lt"/>
                <a:ea typeface="+mn-ea"/>
                <a:cs typeface="+mn-cs"/>
              </a:rPr>
              <a:t>promote</a:t>
            </a:r>
            <a:r>
              <a:rPr lang="en-GB" sz="2400" b="0" i="0" u="none" strike="noStrike" kern="1200" dirty="0">
                <a:solidFill>
                  <a:schemeClr val="tx1"/>
                </a:solidFill>
                <a:effectLst/>
                <a:latin typeface="+mn-lt"/>
                <a:ea typeface="+mn-ea"/>
                <a:cs typeface="+mn-cs"/>
              </a:rPr>
              <a:t> the microbiome to students. A few words about myself: Here in Est we have a biobank and … I am a specialist in reconstruction of bacterial genomes, and my research is dedicated to understanding </a:t>
            </a:r>
            <a:r>
              <a:rPr lang="en-GB" sz="2400" b="1" i="0" u="none" strike="noStrike" kern="1200" dirty="0">
                <a:solidFill>
                  <a:schemeClr val="tx1"/>
                </a:solidFill>
                <a:effectLst/>
                <a:latin typeface="+mn-lt"/>
                <a:ea typeface="+mn-ea"/>
                <a:cs typeface="+mn-cs"/>
              </a:rPr>
              <a:t>how MB relates to different diseases</a:t>
            </a:r>
            <a:r>
              <a:rPr lang="en-GB" sz="2400" b="0" i="0" u="none" strike="noStrike" kern="1200" dirty="0">
                <a:solidFill>
                  <a:schemeClr val="tx1"/>
                </a:solidFill>
                <a:effectLst/>
                <a:latin typeface="+mn-lt"/>
                <a:ea typeface="+mn-ea"/>
                <a:cs typeface="+mn-cs"/>
              </a:rPr>
              <a:t>.</a:t>
            </a:r>
            <a:endParaRPr lang="en-EE" sz="2400" dirty="0"/>
          </a:p>
        </p:txBody>
      </p:sp>
      <p:sp>
        <p:nvSpPr>
          <p:cNvPr id="4" name="Slide Number Placeholder 3">
            <a:extLst>
              <a:ext uri="{FF2B5EF4-FFF2-40B4-BE49-F238E27FC236}">
                <a16:creationId xmlns:a16="http://schemas.microsoft.com/office/drawing/2014/main" id="{28036EA7-7CE2-F3A4-885F-1F8988E927D5}"/>
              </a:ext>
            </a:extLst>
          </p:cNvPr>
          <p:cNvSpPr>
            <a:spLocks noGrp="1"/>
          </p:cNvSpPr>
          <p:nvPr>
            <p:ph type="sldNum" sz="quarter" idx="5"/>
          </p:nvPr>
        </p:nvSpPr>
        <p:spPr/>
        <p:txBody>
          <a:bodyPr/>
          <a:lstStyle/>
          <a:p>
            <a:fld id="{AD4CAB53-52DE-D145-AE5E-81261651E869}" type="slidenum">
              <a:rPr lang="en-EE" smtClean="0"/>
              <a:t>16</a:t>
            </a:fld>
            <a:endParaRPr lang="en-EE"/>
          </a:p>
        </p:txBody>
      </p:sp>
    </p:spTree>
    <p:extLst>
      <p:ext uri="{BB962C8B-B14F-4D97-AF65-F5344CB8AC3E}">
        <p14:creationId xmlns:p14="http://schemas.microsoft.com/office/powerpoint/2010/main" val="22849595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C56B8-4CE4-5FF9-C422-37CBC4AD414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EE"/>
          </a:p>
        </p:txBody>
      </p:sp>
      <p:sp>
        <p:nvSpPr>
          <p:cNvPr id="3" name="Subtitle 2">
            <a:extLst>
              <a:ext uri="{FF2B5EF4-FFF2-40B4-BE49-F238E27FC236}">
                <a16:creationId xmlns:a16="http://schemas.microsoft.com/office/drawing/2014/main" id="{CBE8B09D-3BBC-89B8-09B2-3296E60F16F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EE"/>
          </a:p>
        </p:txBody>
      </p:sp>
      <p:sp>
        <p:nvSpPr>
          <p:cNvPr id="4" name="Date Placeholder 3">
            <a:extLst>
              <a:ext uri="{FF2B5EF4-FFF2-40B4-BE49-F238E27FC236}">
                <a16:creationId xmlns:a16="http://schemas.microsoft.com/office/drawing/2014/main" id="{8F49DDA7-C1DD-AD58-D660-0E584DF446CE}"/>
              </a:ext>
            </a:extLst>
          </p:cNvPr>
          <p:cNvSpPr>
            <a:spLocks noGrp="1"/>
          </p:cNvSpPr>
          <p:nvPr>
            <p:ph type="dt" sz="half" idx="10"/>
          </p:nvPr>
        </p:nvSpPr>
        <p:spPr/>
        <p:txBody>
          <a:bodyPr/>
          <a:lstStyle/>
          <a:p>
            <a:fld id="{355A8C33-FE4E-D24C-AE21-065345974945}" type="datetime1">
              <a:rPr lang="en-US" smtClean="0"/>
              <a:t>2/5/26</a:t>
            </a:fld>
            <a:endParaRPr lang="en-EE"/>
          </a:p>
        </p:txBody>
      </p:sp>
      <p:sp>
        <p:nvSpPr>
          <p:cNvPr id="5" name="Footer Placeholder 4">
            <a:extLst>
              <a:ext uri="{FF2B5EF4-FFF2-40B4-BE49-F238E27FC236}">
                <a16:creationId xmlns:a16="http://schemas.microsoft.com/office/drawing/2014/main" id="{FCBA19BD-BE62-BEF2-1BFB-8A2BD44F081B}"/>
              </a:ext>
            </a:extLst>
          </p:cNvPr>
          <p:cNvSpPr>
            <a:spLocks noGrp="1"/>
          </p:cNvSpPr>
          <p:nvPr>
            <p:ph type="ftr" sz="quarter" idx="11"/>
          </p:nvPr>
        </p:nvSpPr>
        <p:spPr/>
        <p:txBody>
          <a:bodyPr/>
          <a:lstStyle/>
          <a:p>
            <a:endParaRPr lang="en-EE"/>
          </a:p>
        </p:txBody>
      </p:sp>
      <p:sp>
        <p:nvSpPr>
          <p:cNvPr id="6" name="Slide Number Placeholder 5">
            <a:extLst>
              <a:ext uri="{FF2B5EF4-FFF2-40B4-BE49-F238E27FC236}">
                <a16:creationId xmlns:a16="http://schemas.microsoft.com/office/drawing/2014/main" id="{0C71FFB8-24A4-5533-B461-28929038D1EB}"/>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684059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F45B7-C306-07C4-CD8C-1322A932A4BF}"/>
              </a:ext>
            </a:extLst>
          </p:cNvPr>
          <p:cNvSpPr>
            <a:spLocks noGrp="1"/>
          </p:cNvSpPr>
          <p:nvPr>
            <p:ph type="title"/>
          </p:nvPr>
        </p:nvSpPr>
        <p:spPr/>
        <p:txBody>
          <a:bodyPr/>
          <a:lstStyle/>
          <a:p>
            <a:r>
              <a:rPr lang="en-GB"/>
              <a:t>Click to edit Master title style</a:t>
            </a:r>
            <a:endParaRPr lang="en-EE"/>
          </a:p>
        </p:txBody>
      </p:sp>
      <p:sp>
        <p:nvSpPr>
          <p:cNvPr id="3" name="Content Placeholder 2">
            <a:extLst>
              <a:ext uri="{FF2B5EF4-FFF2-40B4-BE49-F238E27FC236}">
                <a16:creationId xmlns:a16="http://schemas.microsoft.com/office/drawing/2014/main" id="{5F153F1D-B6CD-37D9-F83D-52AA4657FDB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E"/>
          </a:p>
        </p:txBody>
      </p:sp>
      <p:sp>
        <p:nvSpPr>
          <p:cNvPr id="4" name="Date Placeholder 3">
            <a:extLst>
              <a:ext uri="{FF2B5EF4-FFF2-40B4-BE49-F238E27FC236}">
                <a16:creationId xmlns:a16="http://schemas.microsoft.com/office/drawing/2014/main" id="{E91BBA6A-C261-70FC-4284-4F419E4E503F}"/>
              </a:ext>
            </a:extLst>
          </p:cNvPr>
          <p:cNvSpPr>
            <a:spLocks noGrp="1"/>
          </p:cNvSpPr>
          <p:nvPr>
            <p:ph type="dt" sz="half" idx="10"/>
          </p:nvPr>
        </p:nvSpPr>
        <p:spPr/>
        <p:txBody>
          <a:bodyPr/>
          <a:lstStyle/>
          <a:p>
            <a:fld id="{39D3D1A3-996C-DA46-B4BA-FBFEA82E6BB6}" type="datetime1">
              <a:rPr lang="en-US" smtClean="0"/>
              <a:t>2/5/26</a:t>
            </a:fld>
            <a:endParaRPr lang="en-EE"/>
          </a:p>
        </p:txBody>
      </p:sp>
      <p:sp>
        <p:nvSpPr>
          <p:cNvPr id="5" name="Footer Placeholder 4">
            <a:extLst>
              <a:ext uri="{FF2B5EF4-FFF2-40B4-BE49-F238E27FC236}">
                <a16:creationId xmlns:a16="http://schemas.microsoft.com/office/drawing/2014/main" id="{84EF2766-16C4-8335-CA0E-B34570D8E025}"/>
              </a:ext>
            </a:extLst>
          </p:cNvPr>
          <p:cNvSpPr>
            <a:spLocks noGrp="1"/>
          </p:cNvSpPr>
          <p:nvPr>
            <p:ph type="ftr" sz="quarter" idx="11"/>
          </p:nvPr>
        </p:nvSpPr>
        <p:spPr/>
        <p:txBody>
          <a:bodyPr/>
          <a:lstStyle/>
          <a:p>
            <a:endParaRPr lang="en-EE"/>
          </a:p>
        </p:txBody>
      </p:sp>
      <p:sp>
        <p:nvSpPr>
          <p:cNvPr id="6" name="Slide Number Placeholder 5">
            <a:extLst>
              <a:ext uri="{FF2B5EF4-FFF2-40B4-BE49-F238E27FC236}">
                <a16:creationId xmlns:a16="http://schemas.microsoft.com/office/drawing/2014/main" id="{0666E4E8-8FD2-3698-39EB-E7A23614DD72}"/>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822744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B99FC-F878-6C17-74CE-E93CECDB33A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EE"/>
          </a:p>
        </p:txBody>
      </p:sp>
      <p:sp>
        <p:nvSpPr>
          <p:cNvPr id="3" name="Text Placeholder 2">
            <a:extLst>
              <a:ext uri="{FF2B5EF4-FFF2-40B4-BE49-F238E27FC236}">
                <a16:creationId xmlns:a16="http://schemas.microsoft.com/office/drawing/2014/main" id="{66F71EA2-7343-0192-ECFE-C5DFBB93CE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AD0FCC9-DD4B-B4FF-9F6C-87B55D74D3F6}"/>
              </a:ext>
            </a:extLst>
          </p:cNvPr>
          <p:cNvSpPr>
            <a:spLocks noGrp="1"/>
          </p:cNvSpPr>
          <p:nvPr>
            <p:ph type="dt" sz="half" idx="10"/>
          </p:nvPr>
        </p:nvSpPr>
        <p:spPr/>
        <p:txBody>
          <a:bodyPr/>
          <a:lstStyle/>
          <a:p>
            <a:fld id="{86804119-D395-BE46-A6A6-92F9D7153551}" type="datetime1">
              <a:rPr lang="en-US" smtClean="0"/>
              <a:t>2/5/26</a:t>
            </a:fld>
            <a:endParaRPr lang="en-EE"/>
          </a:p>
        </p:txBody>
      </p:sp>
      <p:sp>
        <p:nvSpPr>
          <p:cNvPr id="5" name="Footer Placeholder 4">
            <a:extLst>
              <a:ext uri="{FF2B5EF4-FFF2-40B4-BE49-F238E27FC236}">
                <a16:creationId xmlns:a16="http://schemas.microsoft.com/office/drawing/2014/main" id="{43FC7BED-D13F-3632-C9B7-B9F0841AE273}"/>
              </a:ext>
            </a:extLst>
          </p:cNvPr>
          <p:cNvSpPr>
            <a:spLocks noGrp="1"/>
          </p:cNvSpPr>
          <p:nvPr>
            <p:ph type="ftr" sz="quarter" idx="11"/>
          </p:nvPr>
        </p:nvSpPr>
        <p:spPr/>
        <p:txBody>
          <a:bodyPr/>
          <a:lstStyle/>
          <a:p>
            <a:endParaRPr lang="en-EE"/>
          </a:p>
        </p:txBody>
      </p:sp>
      <p:sp>
        <p:nvSpPr>
          <p:cNvPr id="6" name="Slide Number Placeholder 5">
            <a:extLst>
              <a:ext uri="{FF2B5EF4-FFF2-40B4-BE49-F238E27FC236}">
                <a16:creationId xmlns:a16="http://schemas.microsoft.com/office/drawing/2014/main" id="{A12EE42A-FA23-220B-F055-6D20D2609BEC}"/>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2889169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357B4-43D4-4D32-369E-EEA114EAE2B3}"/>
              </a:ext>
            </a:extLst>
          </p:cNvPr>
          <p:cNvSpPr>
            <a:spLocks noGrp="1"/>
          </p:cNvSpPr>
          <p:nvPr>
            <p:ph type="title"/>
          </p:nvPr>
        </p:nvSpPr>
        <p:spPr/>
        <p:txBody>
          <a:bodyPr/>
          <a:lstStyle/>
          <a:p>
            <a:r>
              <a:rPr lang="en-GB"/>
              <a:t>Click to edit Master title style</a:t>
            </a:r>
            <a:endParaRPr lang="en-EE"/>
          </a:p>
        </p:txBody>
      </p:sp>
      <p:sp>
        <p:nvSpPr>
          <p:cNvPr id="3" name="Content Placeholder 2">
            <a:extLst>
              <a:ext uri="{FF2B5EF4-FFF2-40B4-BE49-F238E27FC236}">
                <a16:creationId xmlns:a16="http://schemas.microsoft.com/office/drawing/2014/main" id="{24673745-0C6E-D11A-82E0-111947392AB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E"/>
          </a:p>
        </p:txBody>
      </p:sp>
      <p:sp>
        <p:nvSpPr>
          <p:cNvPr id="4" name="Content Placeholder 3">
            <a:extLst>
              <a:ext uri="{FF2B5EF4-FFF2-40B4-BE49-F238E27FC236}">
                <a16:creationId xmlns:a16="http://schemas.microsoft.com/office/drawing/2014/main" id="{A8CFCF22-2355-C368-1249-87F83D6C0DF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E"/>
          </a:p>
        </p:txBody>
      </p:sp>
      <p:sp>
        <p:nvSpPr>
          <p:cNvPr id="5" name="Date Placeholder 4">
            <a:extLst>
              <a:ext uri="{FF2B5EF4-FFF2-40B4-BE49-F238E27FC236}">
                <a16:creationId xmlns:a16="http://schemas.microsoft.com/office/drawing/2014/main" id="{01448909-98DD-C60E-F3AB-B5FA3A035337}"/>
              </a:ext>
            </a:extLst>
          </p:cNvPr>
          <p:cNvSpPr>
            <a:spLocks noGrp="1"/>
          </p:cNvSpPr>
          <p:nvPr>
            <p:ph type="dt" sz="half" idx="10"/>
          </p:nvPr>
        </p:nvSpPr>
        <p:spPr/>
        <p:txBody>
          <a:bodyPr/>
          <a:lstStyle/>
          <a:p>
            <a:fld id="{EC8112D4-A5E3-DE4F-9EB5-63C893EE4DA5}" type="datetime1">
              <a:rPr lang="en-US" smtClean="0"/>
              <a:t>2/5/26</a:t>
            </a:fld>
            <a:endParaRPr lang="en-EE"/>
          </a:p>
        </p:txBody>
      </p:sp>
      <p:sp>
        <p:nvSpPr>
          <p:cNvPr id="6" name="Footer Placeholder 5">
            <a:extLst>
              <a:ext uri="{FF2B5EF4-FFF2-40B4-BE49-F238E27FC236}">
                <a16:creationId xmlns:a16="http://schemas.microsoft.com/office/drawing/2014/main" id="{F8BE74FD-F67D-6C14-3056-AA5D3537F26C}"/>
              </a:ext>
            </a:extLst>
          </p:cNvPr>
          <p:cNvSpPr>
            <a:spLocks noGrp="1"/>
          </p:cNvSpPr>
          <p:nvPr>
            <p:ph type="ftr" sz="quarter" idx="11"/>
          </p:nvPr>
        </p:nvSpPr>
        <p:spPr/>
        <p:txBody>
          <a:bodyPr/>
          <a:lstStyle/>
          <a:p>
            <a:endParaRPr lang="en-EE"/>
          </a:p>
        </p:txBody>
      </p:sp>
      <p:sp>
        <p:nvSpPr>
          <p:cNvPr id="7" name="Slide Number Placeholder 6">
            <a:extLst>
              <a:ext uri="{FF2B5EF4-FFF2-40B4-BE49-F238E27FC236}">
                <a16:creationId xmlns:a16="http://schemas.microsoft.com/office/drawing/2014/main" id="{2EFA7DEF-EB1B-588A-7770-CA1CC81356CD}"/>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2174999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1DB95-9601-3F72-5968-C0441B640775}"/>
              </a:ext>
            </a:extLst>
          </p:cNvPr>
          <p:cNvSpPr>
            <a:spLocks noGrp="1"/>
          </p:cNvSpPr>
          <p:nvPr>
            <p:ph type="title"/>
          </p:nvPr>
        </p:nvSpPr>
        <p:spPr>
          <a:xfrm>
            <a:off x="839788" y="365125"/>
            <a:ext cx="10515600" cy="1325563"/>
          </a:xfrm>
        </p:spPr>
        <p:txBody>
          <a:bodyPr/>
          <a:lstStyle/>
          <a:p>
            <a:r>
              <a:rPr lang="en-GB"/>
              <a:t>Click to edit Master title style</a:t>
            </a:r>
            <a:endParaRPr lang="en-EE"/>
          </a:p>
        </p:txBody>
      </p:sp>
      <p:sp>
        <p:nvSpPr>
          <p:cNvPr id="3" name="Text Placeholder 2">
            <a:extLst>
              <a:ext uri="{FF2B5EF4-FFF2-40B4-BE49-F238E27FC236}">
                <a16:creationId xmlns:a16="http://schemas.microsoft.com/office/drawing/2014/main" id="{4C2E0567-124E-161A-E536-F36B67922A4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1C9DEE9-ADC4-7BC4-1F8A-38BAA0A8295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E"/>
          </a:p>
        </p:txBody>
      </p:sp>
      <p:sp>
        <p:nvSpPr>
          <p:cNvPr id="5" name="Text Placeholder 4">
            <a:extLst>
              <a:ext uri="{FF2B5EF4-FFF2-40B4-BE49-F238E27FC236}">
                <a16:creationId xmlns:a16="http://schemas.microsoft.com/office/drawing/2014/main" id="{AB1F2A20-FE1C-9CAC-B256-63A3BE4DDD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60A69D5-AD52-1B51-49C5-313E13BDD997}"/>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E"/>
          </a:p>
        </p:txBody>
      </p:sp>
      <p:sp>
        <p:nvSpPr>
          <p:cNvPr id="7" name="Date Placeholder 6">
            <a:extLst>
              <a:ext uri="{FF2B5EF4-FFF2-40B4-BE49-F238E27FC236}">
                <a16:creationId xmlns:a16="http://schemas.microsoft.com/office/drawing/2014/main" id="{AB34F82F-FF19-E983-1E17-1197531747FD}"/>
              </a:ext>
            </a:extLst>
          </p:cNvPr>
          <p:cNvSpPr>
            <a:spLocks noGrp="1"/>
          </p:cNvSpPr>
          <p:nvPr>
            <p:ph type="dt" sz="half" idx="10"/>
          </p:nvPr>
        </p:nvSpPr>
        <p:spPr/>
        <p:txBody>
          <a:bodyPr/>
          <a:lstStyle/>
          <a:p>
            <a:fld id="{8BE872E7-9CEB-784C-B950-9A9DF03ECDE9}" type="datetime1">
              <a:rPr lang="en-US" smtClean="0"/>
              <a:t>2/5/26</a:t>
            </a:fld>
            <a:endParaRPr lang="en-EE"/>
          </a:p>
        </p:txBody>
      </p:sp>
      <p:sp>
        <p:nvSpPr>
          <p:cNvPr id="8" name="Footer Placeholder 7">
            <a:extLst>
              <a:ext uri="{FF2B5EF4-FFF2-40B4-BE49-F238E27FC236}">
                <a16:creationId xmlns:a16="http://schemas.microsoft.com/office/drawing/2014/main" id="{837D90F1-73C5-752D-9659-E73DE52E069B}"/>
              </a:ext>
            </a:extLst>
          </p:cNvPr>
          <p:cNvSpPr>
            <a:spLocks noGrp="1"/>
          </p:cNvSpPr>
          <p:nvPr>
            <p:ph type="ftr" sz="quarter" idx="11"/>
          </p:nvPr>
        </p:nvSpPr>
        <p:spPr/>
        <p:txBody>
          <a:bodyPr/>
          <a:lstStyle/>
          <a:p>
            <a:endParaRPr lang="en-EE"/>
          </a:p>
        </p:txBody>
      </p:sp>
      <p:sp>
        <p:nvSpPr>
          <p:cNvPr id="9" name="Slide Number Placeholder 8">
            <a:extLst>
              <a:ext uri="{FF2B5EF4-FFF2-40B4-BE49-F238E27FC236}">
                <a16:creationId xmlns:a16="http://schemas.microsoft.com/office/drawing/2014/main" id="{D6707F89-294A-7644-54D3-0FCDABC8D53B}"/>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34859201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73B0-677E-691A-6A20-B86576F6D2B8}"/>
              </a:ext>
            </a:extLst>
          </p:cNvPr>
          <p:cNvSpPr>
            <a:spLocks noGrp="1"/>
          </p:cNvSpPr>
          <p:nvPr>
            <p:ph type="title"/>
          </p:nvPr>
        </p:nvSpPr>
        <p:spPr/>
        <p:txBody>
          <a:bodyPr/>
          <a:lstStyle/>
          <a:p>
            <a:r>
              <a:rPr lang="en-GB"/>
              <a:t>Click to edit Master title style</a:t>
            </a:r>
            <a:endParaRPr lang="en-EE"/>
          </a:p>
        </p:txBody>
      </p:sp>
      <p:sp>
        <p:nvSpPr>
          <p:cNvPr id="3" name="Date Placeholder 2">
            <a:extLst>
              <a:ext uri="{FF2B5EF4-FFF2-40B4-BE49-F238E27FC236}">
                <a16:creationId xmlns:a16="http://schemas.microsoft.com/office/drawing/2014/main" id="{5726926C-95DF-CA25-2876-50556A57BB78}"/>
              </a:ext>
            </a:extLst>
          </p:cNvPr>
          <p:cNvSpPr>
            <a:spLocks noGrp="1"/>
          </p:cNvSpPr>
          <p:nvPr>
            <p:ph type="dt" sz="half" idx="10"/>
          </p:nvPr>
        </p:nvSpPr>
        <p:spPr/>
        <p:txBody>
          <a:bodyPr/>
          <a:lstStyle/>
          <a:p>
            <a:fld id="{46F69D58-4C61-3D4C-B39B-7018F5188496}" type="datetime1">
              <a:rPr lang="en-US" smtClean="0"/>
              <a:t>2/5/26</a:t>
            </a:fld>
            <a:endParaRPr lang="en-EE"/>
          </a:p>
        </p:txBody>
      </p:sp>
      <p:sp>
        <p:nvSpPr>
          <p:cNvPr id="4" name="Footer Placeholder 3">
            <a:extLst>
              <a:ext uri="{FF2B5EF4-FFF2-40B4-BE49-F238E27FC236}">
                <a16:creationId xmlns:a16="http://schemas.microsoft.com/office/drawing/2014/main" id="{0BE14EBC-D91E-6505-A94B-B627CD98FAD6}"/>
              </a:ext>
            </a:extLst>
          </p:cNvPr>
          <p:cNvSpPr>
            <a:spLocks noGrp="1"/>
          </p:cNvSpPr>
          <p:nvPr>
            <p:ph type="ftr" sz="quarter" idx="11"/>
          </p:nvPr>
        </p:nvSpPr>
        <p:spPr/>
        <p:txBody>
          <a:bodyPr/>
          <a:lstStyle/>
          <a:p>
            <a:endParaRPr lang="en-EE"/>
          </a:p>
        </p:txBody>
      </p:sp>
      <p:sp>
        <p:nvSpPr>
          <p:cNvPr id="5" name="Slide Number Placeholder 4">
            <a:extLst>
              <a:ext uri="{FF2B5EF4-FFF2-40B4-BE49-F238E27FC236}">
                <a16:creationId xmlns:a16="http://schemas.microsoft.com/office/drawing/2014/main" id="{EE74BA4F-3DBC-BB54-FDC2-C9DAA4DCAF22}"/>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1002810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ADE2BB-308A-39A3-D664-63B5A2055089}"/>
              </a:ext>
            </a:extLst>
          </p:cNvPr>
          <p:cNvSpPr>
            <a:spLocks noGrp="1"/>
          </p:cNvSpPr>
          <p:nvPr>
            <p:ph type="dt" sz="half" idx="10"/>
          </p:nvPr>
        </p:nvSpPr>
        <p:spPr/>
        <p:txBody>
          <a:bodyPr/>
          <a:lstStyle/>
          <a:p>
            <a:fld id="{3E79D5DD-1048-3E45-9211-BACAC51B4923}" type="datetime1">
              <a:rPr lang="en-US" smtClean="0"/>
              <a:t>2/5/26</a:t>
            </a:fld>
            <a:endParaRPr lang="en-EE"/>
          </a:p>
        </p:txBody>
      </p:sp>
      <p:sp>
        <p:nvSpPr>
          <p:cNvPr id="3" name="Footer Placeholder 2">
            <a:extLst>
              <a:ext uri="{FF2B5EF4-FFF2-40B4-BE49-F238E27FC236}">
                <a16:creationId xmlns:a16="http://schemas.microsoft.com/office/drawing/2014/main" id="{F2EF2890-E7D2-34D4-38C2-F80FACC228DE}"/>
              </a:ext>
            </a:extLst>
          </p:cNvPr>
          <p:cNvSpPr>
            <a:spLocks noGrp="1"/>
          </p:cNvSpPr>
          <p:nvPr>
            <p:ph type="ftr" sz="quarter" idx="11"/>
          </p:nvPr>
        </p:nvSpPr>
        <p:spPr/>
        <p:txBody>
          <a:bodyPr/>
          <a:lstStyle/>
          <a:p>
            <a:endParaRPr lang="en-EE"/>
          </a:p>
        </p:txBody>
      </p:sp>
      <p:sp>
        <p:nvSpPr>
          <p:cNvPr id="4" name="Slide Number Placeholder 3">
            <a:extLst>
              <a:ext uri="{FF2B5EF4-FFF2-40B4-BE49-F238E27FC236}">
                <a16:creationId xmlns:a16="http://schemas.microsoft.com/office/drawing/2014/main" id="{3258C999-1C69-0CF9-ECCA-37362D419592}"/>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2573272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3DBAB-B8E7-16E2-82B1-271FB5CE7E8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EE"/>
          </a:p>
        </p:txBody>
      </p:sp>
      <p:sp>
        <p:nvSpPr>
          <p:cNvPr id="3" name="Content Placeholder 2">
            <a:extLst>
              <a:ext uri="{FF2B5EF4-FFF2-40B4-BE49-F238E27FC236}">
                <a16:creationId xmlns:a16="http://schemas.microsoft.com/office/drawing/2014/main" id="{545C626E-85C6-EC24-72AA-023A5F1831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E"/>
          </a:p>
        </p:txBody>
      </p:sp>
      <p:sp>
        <p:nvSpPr>
          <p:cNvPr id="4" name="Text Placeholder 3">
            <a:extLst>
              <a:ext uri="{FF2B5EF4-FFF2-40B4-BE49-F238E27FC236}">
                <a16:creationId xmlns:a16="http://schemas.microsoft.com/office/drawing/2014/main" id="{6CCEF890-9022-AF72-F9D3-0D18403880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5F86EC9-4025-7187-E0CC-3EE6EFA5BE27}"/>
              </a:ext>
            </a:extLst>
          </p:cNvPr>
          <p:cNvSpPr>
            <a:spLocks noGrp="1"/>
          </p:cNvSpPr>
          <p:nvPr>
            <p:ph type="dt" sz="half" idx="10"/>
          </p:nvPr>
        </p:nvSpPr>
        <p:spPr/>
        <p:txBody>
          <a:bodyPr/>
          <a:lstStyle/>
          <a:p>
            <a:fld id="{DF8D9AD1-82FB-C34D-AEEA-571A143F189B}" type="datetime1">
              <a:rPr lang="en-US" smtClean="0"/>
              <a:t>2/5/26</a:t>
            </a:fld>
            <a:endParaRPr lang="en-EE"/>
          </a:p>
        </p:txBody>
      </p:sp>
      <p:sp>
        <p:nvSpPr>
          <p:cNvPr id="6" name="Footer Placeholder 5">
            <a:extLst>
              <a:ext uri="{FF2B5EF4-FFF2-40B4-BE49-F238E27FC236}">
                <a16:creationId xmlns:a16="http://schemas.microsoft.com/office/drawing/2014/main" id="{3CD217B6-F18C-E816-6692-F9BF1451EDF3}"/>
              </a:ext>
            </a:extLst>
          </p:cNvPr>
          <p:cNvSpPr>
            <a:spLocks noGrp="1"/>
          </p:cNvSpPr>
          <p:nvPr>
            <p:ph type="ftr" sz="quarter" idx="11"/>
          </p:nvPr>
        </p:nvSpPr>
        <p:spPr/>
        <p:txBody>
          <a:bodyPr/>
          <a:lstStyle/>
          <a:p>
            <a:endParaRPr lang="en-EE"/>
          </a:p>
        </p:txBody>
      </p:sp>
      <p:sp>
        <p:nvSpPr>
          <p:cNvPr id="7" name="Slide Number Placeholder 6">
            <a:extLst>
              <a:ext uri="{FF2B5EF4-FFF2-40B4-BE49-F238E27FC236}">
                <a16:creationId xmlns:a16="http://schemas.microsoft.com/office/drawing/2014/main" id="{E32533FC-F9F7-2761-F16C-6EF2B1FB8A59}"/>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3420080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0B69D-FBBB-2E86-4E51-91EF329D97B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EE"/>
          </a:p>
        </p:txBody>
      </p:sp>
      <p:sp>
        <p:nvSpPr>
          <p:cNvPr id="3" name="Picture Placeholder 2">
            <a:extLst>
              <a:ext uri="{FF2B5EF4-FFF2-40B4-BE49-F238E27FC236}">
                <a16:creationId xmlns:a16="http://schemas.microsoft.com/office/drawing/2014/main" id="{10082B3E-1CDD-DB49-996B-59646948DA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EE"/>
          </a:p>
        </p:txBody>
      </p:sp>
      <p:sp>
        <p:nvSpPr>
          <p:cNvPr id="4" name="Text Placeholder 3">
            <a:extLst>
              <a:ext uri="{FF2B5EF4-FFF2-40B4-BE49-F238E27FC236}">
                <a16:creationId xmlns:a16="http://schemas.microsoft.com/office/drawing/2014/main" id="{4B0B7451-D37D-E3C5-2805-3CD13CFD31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E6BF5B6-F975-F6BB-1218-7148065B0361}"/>
              </a:ext>
            </a:extLst>
          </p:cNvPr>
          <p:cNvSpPr>
            <a:spLocks noGrp="1"/>
          </p:cNvSpPr>
          <p:nvPr>
            <p:ph type="dt" sz="half" idx="10"/>
          </p:nvPr>
        </p:nvSpPr>
        <p:spPr/>
        <p:txBody>
          <a:bodyPr/>
          <a:lstStyle/>
          <a:p>
            <a:fld id="{9A7C29B1-1188-F141-8C90-FA4A891248E8}" type="datetime1">
              <a:rPr lang="en-US" smtClean="0"/>
              <a:t>2/5/26</a:t>
            </a:fld>
            <a:endParaRPr lang="en-EE"/>
          </a:p>
        </p:txBody>
      </p:sp>
      <p:sp>
        <p:nvSpPr>
          <p:cNvPr id="6" name="Footer Placeholder 5">
            <a:extLst>
              <a:ext uri="{FF2B5EF4-FFF2-40B4-BE49-F238E27FC236}">
                <a16:creationId xmlns:a16="http://schemas.microsoft.com/office/drawing/2014/main" id="{13EDB298-4658-668C-B47F-803E5B0A407D}"/>
              </a:ext>
            </a:extLst>
          </p:cNvPr>
          <p:cNvSpPr>
            <a:spLocks noGrp="1"/>
          </p:cNvSpPr>
          <p:nvPr>
            <p:ph type="ftr" sz="quarter" idx="11"/>
          </p:nvPr>
        </p:nvSpPr>
        <p:spPr/>
        <p:txBody>
          <a:bodyPr/>
          <a:lstStyle/>
          <a:p>
            <a:endParaRPr lang="en-EE"/>
          </a:p>
        </p:txBody>
      </p:sp>
      <p:sp>
        <p:nvSpPr>
          <p:cNvPr id="7" name="Slide Number Placeholder 6">
            <a:extLst>
              <a:ext uri="{FF2B5EF4-FFF2-40B4-BE49-F238E27FC236}">
                <a16:creationId xmlns:a16="http://schemas.microsoft.com/office/drawing/2014/main" id="{D468C73B-9185-0383-A370-D9307D549B01}"/>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2201386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1AA42-86D6-652D-E926-1313F72D4471}"/>
              </a:ext>
            </a:extLst>
          </p:cNvPr>
          <p:cNvSpPr>
            <a:spLocks noGrp="1"/>
          </p:cNvSpPr>
          <p:nvPr>
            <p:ph type="title"/>
          </p:nvPr>
        </p:nvSpPr>
        <p:spPr/>
        <p:txBody>
          <a:bodyPr/>
          <a:lstStyle/>
          <a:p>
            <a:r>
              <a:rPr lang="en-GB"/>
              <a:t>Click to edit Master title style</a:t>
            </a:r>
            <a:endParaRPr lang="en-EE"/>
          </a:p>
        </p:txBody>
      </p:sp>
      <p:sp>
        <p:nvSpPr>
          <p:cNvPr id="3" name="Vertical Text Placeholder 2">
            <a:extLst>
              <a:ext uri="{FF2B5EF4-FFF2-40B4-BE49-F238E27FC236}">
                <a16:creationId xmlns:a16="http://schemas.microsoft.com/office/drawing/2014/main" id="{F9934ABC-5172-CCB7-200C-30447B092EA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E"/>
          </a:p>
        </p:txBody>
      </p:sp>
      <p:sp>
        <p:nvSpPr>
          <p:cNvPr id="4" name="Date Placeholder 3">
            <a:extLst>
              <a:ext uri="{FF2B5EF4-FFF2-40B4-BE49-F238E27FC236}">
                <a16:creationId xmlns:a16="http://schemas.microsoft.com/office/drawing/2014/main" id="{970C1A4E-AE28-784A-681D-EF755584D81A}"/>
              </a:ext>
            </a:extLst>
          </p:cNvPr>
          <p:cNvSpPr>
            <a:spLocks noGrp="1"/>
          </p:cNvSpPr>
          <p:nvPr>
            <p:ph type="dt" sz="half" idx="10"/>
          </p:nvPr>
        </p:nvSpPr>
        <p:spPr/>
        <p:txBody>
          <a:bodyPr/>
          <a:lstStyle/>
          <a:p>
            <a:fld id="{67776B75-D299-A44A-A3B5-7866F3007A43}" type="datetime1">
              <a:rPr lang="en-US" smtClean="0"/>
              <a:t>2/5/26</a:t>
            </a:fld>
            <a:endParaRPr lang="en-EE"/>
          </a:p>
        </p:txBody>
      </p:sp>
      <p:sp>
        <p:nvSpPr>
          <p:cNvPr id="5" name="Footer Placeholder 4">
            <a:extLst>
              <a:ext uri="{FF2B5EF4-FFF2-40B4-BE49-F238E27FC236}">
                <a16:creationId xmlns:a16="http://schemas.microsoft.com/office/drawing/2014/main" id="{A6EA3133-D43C-BAB7-AD05-B4F441516458}"/>
              </a:ext>
            </a:extLst>
          </p:cNvPr>
          <p:cNvSpPr>
            <a:spLocks noGrp="1"/>
          </p:cNvSpPr>
          <p:nvPr>
            <p:ph type="ftr" sz="quarter" idx="11"/>
          </p:nvPr>
        </p:nvSpPr>
        <p:spPr/>
        <p:txBody>
          <a:bodyPr/>
          <a:lstStyle/>
          <a:p>
            <a:endParaRPr lang="en-EE"/>
          </a:p>
        </p:txBody>
      </p:sp>
      <p:sp>
        <p:nvSpPr>
          <p:cNvPr id="6" name="Slide Number Placeholder 5">
            <a:extLst>
              <a:ext uri="{FF2B5EF4-FFF2-40B4-BE49-F238E27FC236}">
                <a16:creationId xmlns:a16="http://schemas.microsoft.com/office/drawing/2014/main" id="{4C8864E3-93B4-DD90-215A-E7D49F210BD7}"/>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340661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5E5C73-215C-65E8-94EA-ACBF56F65C0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EE"/>
          </a:p>
        </p:txBody>
      </p:sp>
      <p:sp>
        <p:nvSpPr>
          <p:cNvPr id="3" name="Vertical Text Placeholder 2">
            <a:extLst>
              <a:ext uri="{FF2B5EF4-FFF2-40B4-BE49-F238E27FC236}">
                <a16:creationId xmlns:a16="http://schemas.microsoft.com/office/drawing/2014/main" id="{63D2C603-BB88-EE48-128D-F0F4F73B57B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E"/>
          </a:p>
        </p:txBody>
      </p:sp>
      <p:sp>
        <p:nvSpPr>
          <p:cNvPr id="4" name="Date Placeholder 3">
            <a:extLst>
              <a:ext uri="{FF2B5EF4-FFF2-40B4-BE49-F238E27FC236}">
                <a16:creationId xmlns:a16="http://schemas.microsoft.com/office/drawing/2014/main" id="{F164B4B5-5E8E-7A84-9E03-F51F4CBBD1F8}"/>
              </a:ext>
            </a:extLst>
          </p:cNvPr>
          <p:cNvSpPr>
            <a:spLocks noGrp="1"/>
          </p:cNvSpPr>
          <p:nvPr>
            <p:ph type="dt" sz="half" idx="10"/>
          </p:nvPr>
        </p:nvSpPr>
        <p:spPr/>
        <p:txBody>
          <a:bodyPr/>
          <a:lstStyle/>
          <a:p>
            <a:fld id="{362576F6-2D48-904D-93AD-1C1ACB0116B9}" type="datetime1">
              <a:rPr lang="en-US" smtClean="0"/>
              <a:t>2/5/26</a:t>
            </a:fld>
            <a:endParaRPr lang="en-EE"/>
          </a:p>
        </p:txBody>
      </p:sp>
      <p:sp>
        <p:nvSpPr>
          <p:cNvPr id="5" name="Footer Placeholder 4">
            <a:extLst>
              <a:ext uri="{FF2B5EF4-FFF2-40B4-BE49-F238E27FC236}">
                <a16:creationId xmlns:a16="http://schemas.microsoft.com/office/drawing/2014/main" id="{E7E127AA-2BC0-0342-2BA0-D7956C1AB123}"/>
              </a:ext>
            </a:extLst>
          </p:cNvPr>
          <p:cNvSpPr>
            <a:spLocks noGrp="1"/>
          </p:cNvSpPr>
          <p:nvPr>
            <p:ph type="ftr" sz="quarter" idx="11"/>
          </p:nvPr>
        </p:nvSpPr>
        <p:spPr/>
        <p:txBody>
          <a:bodyPr/>
          <a:lstStyle/>
          <a:p>
            <a:endParaRPr lang="en-EE"/>
          </a:p>
        </p:txBody>
      </p:sp>
      <p:sp>
        <p:nvSpPr>
          <p:cNvPr id="6" name="Slide Number Placeholder 5">
            <a:extLst>
              <a:ext uri="{FF2B5EF4-FFF2-40B4-BE49-F238E27FC236}">
                <a16:creationId xmlns:a16="http://schemas.microsoft.com/office/drawing/2014/main" id="{E9E17684-6173-E08E-57E0-1EFE1195CE6C}"/>
              </a:ext>
            </a:extLst>
          </p:cNvPr>
          <p:cNvSpPr>
            <a:spLocks noGrp="1"/>
          </p:cNvSpPr>
          <p:nvPr>
            <p:ph type="sldNum" sz="quarter" idx="12"/>
          </p:nvPr>
        </p:nvSpPr>
        <p:spPr/>
        <p:txBody>
          <a:bodyPr/>
          <a:lstStyle/>
          <a:p>
            <a:fld id="{1BBB1392-5497-6446-B7D9-F62D46761D9A}" type="slidenum">
              <a:rPr lang="en-EE" smtClean="0"/>
              <a:t>‹#›</a:t>
            </a:fld>
            <a:endParaRPr lang="en-EE"/>
          </a:p>
        </p:txBody>
      </p:sp>
    </p:spTree>
    <p:extLst>
      <p:ext uri="{BB962C8B-B14F-4D97-AF65-F5344CB8AC3E}">
        <p14:creationId xmlns:p14="http://schemas.microsoft.com/office/powerpoint/2010/main" val="40047204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52C953-821F-9DE3-F2D1-4FE844941B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EE"/>
          </a:p>
        </p:txBody>
      </p:sp>
      <p:sp>
        <p:nvSpPr>
          <p:cNvPr id="3" name="Text Placeholder 2">
            <a:extLst>
              <a:ext uri="{FF2B5EF4-FFF2-40B4-BE49-F238E27FC236}">
                <a16:creationId xmlns:a16="http://schemas.microsoft.com/office/drawing/2014/main" id="{05419C67-0F6F-2711-CCBD-5F0716095E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EE"/>
          </a:p>
        </p:txBody>
      </p:sp>
      <p:sp>
        <p:nvSpPr>
          <p:cNvPr id="4" name="Date Placeholder 3">
            <a:extLst>
              <a:ext uri="{FF2B5EF4-FFF2-40B4-BE49-F238E27FC236}">
                <a16:creationId xmlns:a16="http://schemas.microsoft.com/office/drawing/2014/main" id="{BFE310C7-ACA2-8E44-ABCF-B8BF46F864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514023-8BE4-A745-9F30-3D4C6BF5230C}" type="datetime1">
              <a:rPr lang="en-US" smtClean="0"/>
              <a:t>2/5/26</a:t>
            </a:fld>
            <a:endParaRPr lang="en-EE"/>
          </a:p>
        </p:txBody>
      </p:sp>
      <p:sp>
        <p:nvSpPr>
          <p:cNvPr id="5" name="Footer Placeholder 4">
            <a:extLst>
              <a:ext uri="{FF2B5EF4-FFF2-40B4-BE49-F238E27FC236}">
                <a16:creationId xmlns:a16="http://schemas.microsoft.com/office/drawing/2014/main" id="{5B92D767-226C-A957-6DF4-79912C6AD7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EE"/>
          </a:p>
        </p:txBody>
      </p:sp>
      <p:sp>
        <p:nvSpPr>
          <p:cNvPr id="6" name="Slide Number Placeholder 5">
            <a:extLst>
              <a:ext uri="{FF2B5EF4-FFF2-40B4-BE49-F238E27FC236}">
                <a16:creationId xmlns:a16="http://schemas.microsoft.com/office/drawing/2014/main" id="{117836F8-B2F1-BCDC-2719-E0522CE05C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BB1392-5497-6446-B7D9-F62D46761D9A}" type="slidenum">
              <a:rPr lang="en-EE" smtClean="0"/>
              <a:t>‹#›</a:t>
            </a:fld>
            <a:endParaRPr lang="en-EE"/>
          </a:p>
        </p:txBody>
      </p:sp>
    </p:spTree>
    <p:extLst>
      <p:ext uri="{BB962C8B-B14F-4D97-AF65-F5344CB8AC3E}">
        <p14:creationId xmlns:p14="http://schemas.microsoft.com/office/powerpoint/2010/main" val="39680026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E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 TargetMode="External"/><Relationship Id="rId7"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hyperlink" Target="https://code.visualstudio.com/"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Chartiza/KSE_microbiome"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3.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hyperlink" Target="https://www.embl.org/sites/heidelberg/" TargetMode="External"/><Relationship Id="rId13" Type="http://schemas.openxmlformats.org/officeDocument/2006/relationships/hyperlink" Target="https://www.ebi.ac.uk/" TargetMode="External"/><Relationship Id="rId3" Type="http://schemas.openxmlformats.org/officeDocument/2006/relationships/image" Target="../media/image2.png"/><Relationship Id="rId7" Type="http://schemas.openxmlformats.org/officeDocument/2006/relationships/hyperlink" Target="https://www.bork.embl.de/" TargetMode="External"/><Relationship Id="rId12" Type="http://schemas.openxmlformats.org/officeDocument/2006/relationships/hyperlink" Target="https://www.embl.org/sites/hamburg/"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metalog.embl.de/" TargetMode="External"/><Relationship Id="rId11" Type="http://schemas.openxmlformats.org/officeDocument/2006/relationships/hyperlink" Target="https://www.embl.org/sites/grenoble/" TargetMode="External"/><Relationship Id="rId5" Type="http://schemas.openxmlformats.org/officeDocument/2006/relationships/image" Target="../media/image1.png"/><Relationship Id="rId10" Type="http://schemas.openxmlformats.org/officeDocument/2006/relationships/hyperlink" Target="https://www.embl.org/sites/barcelona/" TargetMode="External"/><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hyperlink" Target="https://www.embl.org/sites/rome/" TargetMode="External"/></Relationships>
</file>

<file path=ppt/slides/_rels/slide6.xml.rels><?xml version="1.0" encoding="UTF-8" standalone="yes"?>
<Relationships xmlns="http://schemas.openxmlformats.org/package/2006/relationships"><Relationship Id="rId8" Type="http://schemas.openxmlformats.org/officeDocument/2006/relationships/hyperlink" Target="https://academic.oup.com/nar/article/54/D1/D826/8307355" TargetMode="External"/><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hyperlink" Target="https://metalog.embl.de/" TargetMode="External"/><Relationship Id="rId5" Type="http://schemas.openxmlformats.org/officeDocument/2006/relationships/image" Target="../media/image1.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metalog.embl.de/" TargetMode="External"/><Relationship Id="rId5" Type="http://schemas.openxmlformats.org/officeDocument/2006/relationships/image" Target="../media/image1.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metalog.embl.de/"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https://metalog.embl.de/"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1.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metalog.embl.de/" TargetMode="External"/><Relationship Id="rId5" Type="http://schemas.openxmlformats.org/officeDocument/2006/relationships/image" Target="../media/image1.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metalog.embl.de/" TargetMode="External"/><Relationship Id="rId5" Type="http://schemas.openxmlformats.org/officeDocument/2006/relationships/image" Target="../media/image1.png"/><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metalog.embl.de/" TargetMode="External"/><Relationship Id="rId5" Type="http://schemas.openxmlformats.org/officeDocument/2006/relationships/image" Target="../media/image1.png"/><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metalog.embl.de/" TargetMode="External"/><Relationship Id="rId5" Type="http://schemas.openxmlformats.org/officeDocument/2006/relationships/image" Target="../media/image1.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metalog.embl.de/" TargetMode="External"/><Relationship Id="rId5" Type="http://schemas.openxmlformats.org/officeDocument/2006/relationships/image" Target="../media/image1.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metalog.embl.de/" TargetMode="External"/><Relationship Id="rId5" Type="http://schemas.openxmlformats.org/officeDocument/2006/relationships/image" Target="../media/image1.png"/><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metalog.embl.de/" TargetMode="External"/><Relationship Id="rId5" Type="http://schemas.openxmlformats.org/officeDocument/2006/relationships/image" Target="../media/image1.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60019-F386-F561-F62C-D4F68478689A}"/>
              </a:ext>
            </a:extLst>
          </p:cNvPr>
          <p:cNvSpPr>
            <a:spLocks noGrp="1"/>
          </p:cNvSpPr>
          <p:nvPr>
            <p:ph type="title"/>
          </p:nvPr>
        </p:nvSpPr>
        <p:spPr>
          <a:xfrm>
            <a:off x="5148226" y="1001643"/>
            <a:ext cx="6230680" cy="1651083"/>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Data analysis</a:t>
            </a:r>
            <a:br>
              <a:rPr lang="en-GB" sz="4800" b="1" dirty="0">
                <a:solidFill>
                  <a:srgbClr val="BED035"/>
                </a:solidFill>
                <a:latin typeface="Biome" panose="020B0503030204020804" pitchFamily="34" charset="0"/>
                <a:cs typeface="Biome" panose="020B0503030204020804" pitchFamily="34" charset="0"/>
              </a:rPr>
            </a:br>
            <a:r>
              <a:rPr lang="en-GB" dirty="0">
                <a:solidFill>
                  <a:srgbClr val="98B7E5"/>
                </a:solidFill>
                <a:latin typeface="Biome" panose="020B0503030204020804" pitchFamily="34" charset="0"/>
                <a:cs typeface="Biome" panose="020B0503030204020804" pitchFamily="34" charset="0"/>
              </a:rPr>
              <a:t>Lecture 2</a:t>
            </a:r>
            <a:endParaRPr lang="en-EE" dirty="0">
              <a:solidFill>
                <a:srgbClr val="98B7E5"/>
              </a:solidFill>
              <a:latin typeface="Biome" panose="020B0503030204020804" pitchFamily="34" charset="0"/>
              <a:cs typeface="Biome" panose="020B0503030204020804" pitchFamily="34" charset="0"/>
            </a:endParaRPr>
          </a:p>
        </p:txBody>
      </p:sp>
      <p:sp>
        <p:nvSpPr>
          <p:cNvPr id="3" name="Content Placeholder 2">
            <a:extLst>
              <a:ext uri="{FF2B5EF4-FFF2-40B4-BE49-F238E27FC236}">
                <a16:creationId xmlns:a16="http://schemas.microsoft.com/office/drawing/2014/main" id="{7696EA2F-4384-D359-472B-C50EA187CDE6}"/>
              </a:ext>
            </a:extLst>
          </p:cNvPr>
          <p:cNvSpPr>
            <a:spLocks noGrp="1"/>
          </p:cNvSpPr>
          <p:nvPr>
            <p:ph idx="1"/>
          </p:nvPr>
        </p:nvSpPr>
        <p:spPr>
          <a:xfrm>
            <a:off x="5267929" y="2492865"/>
            <a:ext cx="6230680" cy="2950451"/>
          </a:xfrm>
        </p:spPr>
        <p:txBody>
          <a:bodyPr>
            <a:normAutofit/>
          </a:bodyPr>
          <a:lstStyle/>
          <a:p>
            <a:pPr marL="0" indent="0">
              <a:lnSpc>
                <a:spcPct val="134000"/>
              </a:lnSpc>
              <a:buNone/>
            </a:pPr>
            <a:r>
              <a:rPr lang="en-GB" sz="4000" dirty="0"/>
              <a:t>Metalog data</a:t>
            </a:r>
          </a:p>
          <a:p>
            <a:pPr marL="0" indent="0">
              <a:buNone/>
            </a:pPr>
            <a:endParaRPr lang="en-GB" sz="2400" b="1" dirty="0">
              <a:solidFill>
                <a:schemeClr val="bg2">
                  <a:lumMod val="75000"/>
                </a:schemeClr>
              </a:solidFill>
            </a:endParaRPr>
          </a:p>
          <a:p>
            <a:pPr marL="0" indent="0">
              <a:buNone/>
            </a:pPr>
            <a:r>
              <a:rPr lang="en-GB" sz="3300" b="1" dirty="0">
                <a:solidFill>
                  <a:schemeClr val="bg2">
                    <a:lumMod val="75000"/>
                  </a:schemeClr>
                </a:solidFill>
              </a:rPr>
              <a:t>Kateryna Pantiukh</a:t>
            </a:r>
            <a:endParaRPr lang="uk-UA" sz="3300" b="1" dirty="0">
              <a:solidFill>
                <a:schemeClr val="bg2">
                  <a:lumMod val="75000"/>
                </a:schemeClr>
              </a:solidFill>
            </a:endParaRPr>
          </a:p>
          <a:p>
            <a:pPr marL="0" indent="0">
              <a:buNone/>
            </a:pPr>
            <a:r>
              <a:rPr lang="en-GB" sz="3600" dirty="0">
                <a:solidFill>
                  <a:schemeClr val="bg2">
                    <a:lumMod val="75000"/>
                  </a:schemeClr>
                </a:solidFill>
              </a:rPr>
              <a:t>pantiukh@ut.ee</a:t>
            </a:r>
          </a:p>
        </p:txBody>
      </p:sp>
      <p:pic>
        <p:nvPicPr>
          <p:cNvPr id="4" name="Picture 3" descr="A cartoon of a green monster with sunglasses&#10;&#10;AI-generated content may be incorrect.">
            <a:extLst>
              <a:ext uri="{FF2B5EF4-FFF2-40B4-BE49-F238E27FC236}">
                <a16:creationId xmlns:a16="http://schemas.microsoft.com/office/drawing/2014/main" id="{336CB391-194E-8ECB-E6FD-DF70AC8F26CB}"/>
              </a:ext>
            </a:extLst>
          </p:cNvPr>
          <p:cNvPicPr>
            <a:picLocks noChangeAspect="1"/>
          </p:cNvPicPr>
          <p:nvPr/>
        </p:nvPicPr>
        <p:blipFill>
          <a:blip r:embed="rId3"/>
          <a:srcRect l="4948" t="2905" r="4550" b="1686"/>
          <a:stretch>
            <a:fillRect/>
          </a:stretch>
        </p:blipFill>
        <p:spPr>
          <a:xfrm>
            <a:off x="693391" y="1212112"/>
            <a:ext cx="4215827" cy="4231204"/>
          </a:xfrm>
          <a:prstGeom prst="rect">
            <a:avLst/>
          </a:prstGeom>
        </p:spPr>
      </p:pic>
      <p:sp>
        <p:nvSpPr>
          <p:cNvPr id="5" name="Rectangle 4">
            <a:extLst>
              <a:ext uri="{FF2B5EF4-FFF2-40B4-BE49-F238E27FC236}">
                <a16:creationId xmlns:a16="http://schemas.microsoft.com/office/drawing/2014/main" id="{4720F5D2-CA98-1501-5C3E-7AEF4F16F5BB}"/>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6" name="Rectangle 5">
            <a:extLst>
              <a:ext uri="{FF2B5EF4-FFF2-40B4-BE49-F238E27FC236}">
                <a16:creationId xmlns:a16="http://schemas.microsoft.com/office/drawing/2014/main" id="{19340493-329B-69B9-C435-A4C0B32194F9}"/>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81C3E7AF-54DA-EBB3-7D6D-7EDF5211DCB4}"/>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D5426BB4-17A6-6309-F4EA-4DC0A401976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78003" y="4469555"/>
            <a:ext cx="1701800" cy="1701800"/>
          </a:xfrm>
          <a:prstGeom prst="rect">
            <a:avLst/>
          </a:prstGeom>
        </p:spPr>
      </p:pic>
      <p:sp>
        <p:nvSpPr>
          <p:cNvPr id="12" name="TextBox 11">
            <a:extLst>
              <a:ext uri="{FF2B5EF4-FFF2-40B4-BE49-F238E27FC236}">
                <a16:creationId xmlns:a16="http://schemas.microsoft.com/office/drawing/2014/main" id="{3E3233F3-6719-C607-A9E0-C7EE949EB3A4}"/>
              </a:ext>
            </a:extLst>
          </p:cNvPr>
          <p:cNvSpPr txBox="1"/>
          <p:nvPr/>
        </p:nvSpPr>
        <p:spPr>
          <a:xfrm>
            <a:off x="9978002" y="4069839"/>
            <a:ext cx="1701799" cy="369332"/>
          </a:xfrm>
          <a:prstGeom prst="rect">
            <a:avLst/>
          </a:prstGeom>
          <a:noFill/>
        </p:spPr>
        <p:txBody>
          <a:bodyPr wrap="square" rtlCol="0">
            <a:spAutoFit/>
          </a:bodyPr>
          <a:lstStyle/>
          <a:p>
            <a:pPr algn="ctr"/>
            <a:r>
              <a:rPr lang="en-EE" dirty="0">
                <a:solidFill>
                  <a:srgbClr val="9BB7E0"/>
                </a:solidFill>
              </a:rPr>
              <a:t>GitHub</a:t>
            </a:r>
          </a:p>
        </p:txBody>
      </p:sp>
      <p:sp>
        <p:nvSpPr>
          <p:cNvPr id="13" name="Slide Number Placeholder 12">
            <a:extLst>
              <a:ext uri="{FF2B5EF4-FFF2-40B4-BE49-F238E27FC236}">
                <a16:creationId xmlns:a16="http://schemas.microsoft.com/office/drawing/2014/main" id="{335A3C36-C0D2-36C6-C014-FFD539829A95}"/>
              </a:ext>
            </a:extLst>
          </p:cNvPr>
          <p:cNvSpPr>
            <a:spLocks noGrp="1"/>
          </p:cNvSpPr>
          <p:nvPr>
            <p:ph type="sldNum" sz="quarter" idx="12"/>
          </p:nvPr>
        </p:nvSpPr>
        <p:spPr/>
        <p:txBody>
          <a:bodyPr/>
          <a:lstStyle/>
          <a:p>
            <a:fld id="{1BBB1392-5497-6446-B7D9-F62D46761D9A}" type="slidenum">
              <a:rPr lang="en-EE" sz="1400" smtClean="0"/>
              <a:t>1</a:t>
            </a:fld>
            <a:endParaRPr lang="en-EE" sz="1400" dirty="0"/>
          </a:p>
        </p:txBody>
      </p:sp>
    </p:spTree>
    <p:extLst>
      <p:ext uri="{BB962C8B-B14F-4D97-AF65-F5344CB8AC3E}">
        <p14:creationId xmlns:p14="http://schemas.microsoft.com/office/powerpoint/2010/main" val="2851010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4FB28-5868-EA85-962A-3216425798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066BC-0839-0C4A-9BE2-776E1D493867}"/>
              </a:ext>
            </a:extLst>
          </p:cNvPr>
          <p:cNvSpPr>
            <a:spLocks noGrp="1"/>
          </p:cNvSpPr>
          <p:nvPr>
            <p:ph type="title"/>
          </p:nvPr>
        </p:nvSpPr>
        <p:spPr>
          <a:xfrm>
            <a:off x="5278855" y="2433392"/>
            <a:ext cx="6230680" cy="2661121"/>
          </a:xfrm>
        </p:spPr>
        <p:txBody>
          <a:bodyPr>
            <a:noAutofit/>
          </a:bodyPr>
          <a:lstStyle/>
          <a:p>
            <a:r>
              <a:rPr lang="en-GB" sz="2800" b="1" dirty="0">
                <a:solidFill>
                  <a:srgbClr val="BED035"/>
                </a:solidFill>
                <a:latin typeface="Biome" panose="020B0503030204020804" pitchFamily="34" charset="0"/>
                <a:cs typeface="Biome" panose="020B0503030204020804" pitchFamily="34" charset="0"/>
              </a:rPr>
              <a:t>GitHub</a:t>
            </a:r>
            <a:br>
              <a:rPr lang="en-GB" sz="2800" b="1" dirty="0">
                <a:solidFill>
                  <a:srgbClr val="BED035"/>
                </a:solidFill>
                <a:latin typeface="Biome" panose="020B0503030204020804" pitchFamily="34" charset="0"/>
                <a:cs typeface="Biome" panose="020B0503030204020804" pitchFamily="34" charset="0"/>
              </a:rPr>
            </a:br>
            <a:r>
              <a:rPr lang="en-GB" sz="2400" dirty="0">
                <a:solidFill>
                  <a:srgbClr val="98B7E5"/>
                </a:solidFill>
                <a:latin typeface="Biome" panose="020B0503030204020804" pitchFamily="34" charset="0"/>
                <a:cs typeface="Biome" panose="020B0503030204020804" pitchFamily="34" charset="0"/>
                <a:hlinkClick r:id="rId3"/>
              </a:rPr>
              <a:t>https://github.com</a:t>
            </a:r>
            <a:br>
              <a:rPr lang="en-GB" sz="2400" dirty="0">
                <a:solidFill>
                  <a:srgbClr val="98B7E5"/>
                </a:solidFill>
                <a:latin typeface="Biome" panose="020B0503030204020804" pitchFamily="34" charset="0"/>
                <a:cs typeface="Biome" panose="020B0503030204020804" pitchFamily="34" charset="0"/>
              </a:rPr>
            </a:br>
            <a:br>
              <a:rPr lang="en-GB" sz="2400" dirty="0">
                <a:solidFill>
                  <a:srgbClr val="98B7E5"/>
                </a:solidFill>
                <a:latin typeface="Biome" panose="020B0503030204020804" pitchFamily="34" charset="0"/>
                <a:cs typeface="Biome" panose="020B0503030204020804" pitchFamily="34" charset="0"/>
              </a:rPr>
            </a:br>
            <a:r>
              <a:rPr lang="en-GB" sz="2800" b="1" dirty="0">
                <a:solidFill>
                  <a:srgbClr val="BED035"/>
                </a:solidFill>
                <a:latin typeface="Biome" panose="020B0503030204020804" pitchFamily="34" charset="0"/>
                <a:cs typeface="Biome" panose="020B0503030204020804" pitchFamily="34" charset="0"/>
              </a:rPr>
              <a:t>Visual Studio Code</a:t>
            </a:r>
            <a:br>
              <a:rPr lang="en-GB" sz="2400" dirty="0">
                <a:solidFill>
                  <a:srgbClr val="98B7E5"/>
                </a:solidFill>
                <a:latin typeface="Biome" panose="020B0503030204020804" pitchFamily="34" charset="0"/>
                <a:cs typeface="Biome" panose="020B0503030204020804" pitchFamily="34" charset="0"/>
              </a:rPr>
            </a:br>
            <a:r>
              <a:rPr lang="en-GB" sz="2400" dirty="0">
                <a:solidFill>
                  <a:srgbClr val="98B7E5"/>
                </a:solidFill>
                <a:latin typeface="Biome" panose="020B0503030204020804" pitchFamily="34" charset="0"/>
                <a:cs typeface="Biome" panose="020B0503030204020804" pitchFamily="34" charset="0"/>
                <a:hlinkClick r:id="rId4"/>
              </a:rPr>
              <a:t>https://code.visualstudio.com</a:t>
            </a:r>
            <a:endParaRPr lang="en-EE" sz="2400" dirty="0">
              <a:solidFill>
                <a:srgbClr val="98B7E5"/>
              </a:solidFill>
              <a:latin typeface="Biome" panose="020B0503030204020804" pitchFamily="34" charset="0"/>
              <a:cs typeface="Biome" panose="020B0503030204020804" pitchFamily="34" charset="0"/>
            </a:endParaRPr>
          </a:p>
        </p:txBody>
      </p:sp>
      <p:sp>
        <p:nvSpPr>
          <p:cNvPr id="3" name="Content Placeholder 2">
            <a:extLst>
              <a:ext uri="{FF2B5EF4-FFF2-40B4-BE49-F238E27FC236}">
                <a16:creationId xmlns:a16="http://schemas.microsoft.com/office/drawing/2014/main" id="{BA057B25-1551-9493-7BED-45B913273FA2}"/>
              </a:ext>
            </a:extLst>
          </p:cNvPr>
          <p:cNvSpPr>
            <a:spLocks noGrp="1"/>
          </p:cNvSpPr>
          <p:nvPr>
            <p:ph idx="1"/>
          </p:nvPr>
        </p:nvSpPr>
        <p:spPr>
          <a:xfrm>
            <a:off x="5123120" y="1358031"/>
            <a:ext cx="6230680" cy="1250335"/>
          </a:xfrm>
        </p:spPr>
        <p:txBody>
          <a:bodyPr>
            <a:normAutofit/>
          </a:bodyPr>
          <a:lstStyle/>
          <a:p>
            <a:pPr marL="0" indent="0">
              <a:lnSpc>
                <a:spcPct val="134000"/>
              </a:lnSpc>
              <a:buNone/>
            </a:pPr>
            <a:r>
              <a:rPr lang="en-GB" dirty="0"/>
              <a:t>Please set up your GitHub repository and code editor (Visual Studio Code)</a:t>
            </a:r>
          </a:p>
        </p:txBody>
      </p:sp>
      <p:sp>
        <p:nvSpPr>
          <p:cNvPr id="5" name="Rectangle 4">
            <a:extLst>
              <a:ext uri="{FF2B5EF4-FFF2-40B4-BE49-F238E27FC236}">
                <a16:creationId xmlns:a16="http://schemas.microsoft.com/office/drawing/2014/main" id="{D3426ED7-FA23-0B89-70CD-85B417FFD43E}"/>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6" name="Rectangle 5">
            <a:extLst>
              <a:ext uri="{FF2B5EF4-FFF2-40B4-BE49-F238E27FC236}">
                <a16:creationId xmlns:a16="http://schemas.microsoft.com/office/drawing/2014/main" id="{2808A31E-6A80-DC40-63BC-706648D8F996}"/>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863402BF-A74A-125F-C1B6-7E381C16452C}"/>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ACFD4702-4129-678E-15DC-D73C5F9FD47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4871" y="1615822"/>
            <a:ext cx="3478691" cy="3478691"/>
          </a:xfrm>
          <a:prstGeom prst="rect">
            <a:avLst/>
          </a:prstGeom>
        </p:spPr>
      </p:pic>
      <p:sp>
        <p:nvSpPr>
          <p:cNvPr id="13" name="Slide Number Placeholder 12">
            <a:extLst>
              <a:ext uri="{FF2B5EF4-FFF2-40B4-BE49-F238E27FC236}">
                <a16:creationId xmlns:a16="http://schemas.microsoft.com/office/drawing/2014/main" id="{5E390C2D-33B9-46A2-3BDF-EEDD396026B0}"/>
              </a:ext>
            </a:extLst>
          </p:cNvPr>
          <p:cNvSpPr>
            <a:spLocks noGrp="1"/>
          </p:cNvSpPr>
          <p:nvPr>
            <p:ph type="sldNum" sz="quarter" idx="12"/>
          </p:nvPr>
        </p:nvSpPr>
        <p:spPr/>
        <p:txBody>
          <a:bodyPr/>
          <a:lstStyle/>
          <a:p>
            <a:fld id="{1BBB1392-5497-6446-B7D9-F62D46761D9A}" type="slidenum">
              <a:rPr lang="en-EE" sz="1400" smtClean="0"/>
              <a:t>2</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0DCDF349-713A-1E1E-390D-5E844DF79819}"/>
              </a:ext>
            </a:extLst>
          </p:cNvPr>
          <p:cNvPicPr>
            <a:picLocks noChangeAspect="1"/>
          </p:cNvPicPr>
          <p:nvPr/>
        </p:nvPicPr>
        <p:blipFill>
          <a:blip r:embed="rId7"/>
          <a:srcRect l="4948" t="2905" r="4550" b="1686"/>
          <a:stretch>
            <a:fillRect/>
          </a:stretch>
        </p:blipFill>
        <p:spPr>
          <a:xfrm>
            <a:off x="186239" y="138380"/>
            <a:ext cx="1253710" cy="1258283"/>
          </a:xfrm>
          <a:prstGeom prst="rect">
            <a:avLst/>
          </a:prstGeom>
        </p:spPr>
      </p:pic>
    </p:spTree>
    <p:extLst>
      <p:ext uri="{BB962C8B-B14F-4D97-AF65-F5344CB8AC3E}">
        <p14:creationId xmlns:p14="http://schemas.microsoft.com/office/powerpoint/2010/main" val="3591773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85444-930C-42C3-5D9F-A1136B5FBD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041CF-F60A-9A67-15AC-289926114BD2}"/>
              </a:ext>
            </a:extLst>
          </p:cNvPr>
          <p:cNvSpPr>
            <a:spLocks noGrp="1"/>
          </p:cNvSpPr>
          <p:nvPr>
            <p:ph type="title"/>
          </p:nvPr>
        </p:nvSpPr>
        <p:spPr>
          <a:xfrm>
            <a:off x="5123120" y="3461657"/>
            <a:ext cx="6230680" cy="1665513"/>
          </a:xfrm>
        </p:spPr>
        <p:txBody>
          <a:bodyPr>
            <a:noAutofit/>
          </a:bodyPr>
          <a:lstStyle/>
          <a:p>
            <a:r>
              <a:rPr lang="en-GB" sz="2800" b="1" dirty="0">
                <a:solidFill>
                  <a:srgbClr val="BED035"/>
                </a:solidFill>
                <a:latin typeface="Biome" panose="020B0503030204020804" pitchFamily="34" charset="0"/>
                <a:cs typeface="Biome" panose="020B0503030204020804" pitchFamily="34" charset="0"/>
              </a:rPr>
              <a:t>GitHub</a:t>
            </a:r>
            <a:br>
              <a:rPr lang="en-GB" sz="2800" b="1" dirty="0">
                <a:solidFill>
                  <a:srgbClr val="BED035"/>
                </a:solidFill>
                <a:latin typeface="Biome" panose="020B0503030204020804" pitchFamily="34" charset="0"/>
                <a:cs typeface="Biome" panose="020B0503030204020804" pitchFamily="34" charset="0"/>
              </a:rPr>
            </a:br>
            <a:r>
              <a:rPr lang="en-GB" sz="2000" dirty="0">
                <a:solidFill>
                  <a:srgbClr val="98B7E5"/>
                </a:solidFill>
                <a:latin typeface="Biome" panose="020B0503030204020804" pitchFamily="34" charset="0"/>
                <a:cs typeface="Biome" panose="020B0503030204020804" pitchFamily="34" charset="0"/>
                <a:hlinkClick r:id="rId3"/>
              </a:rPr>
              <a:t>https://github.com/Chartiza/KSE_microbiome</a:t>
            </a:r>
            <a:br>
              <a:rPr lang="en-GB" sz="2400" dirty="0">
                <a:solidFill>
                  <a:srgbClr val="98B7E5"/>
                </a:solidFill>
                <a:latin typeface="Biome" panose="020B0503030204020804" pitchFamily="34" charset="0"/>
                <a:cs typeface="Biome" panose="020B0503030204020804" pitchFamily="34" charset="0"/>
              </a:rPr>
            </a:br>
            <a:br>
              <a:rPr lang="en-GB" sz="2400" dirty="0">
                <a:solidFill>
                  <a:srgbClr val="98B7E5"/>
                </a:solidFill>
                <a:latin typeface="Biome" panose="020B0503030204020804" pitchFamily="34" charset="0"/>
                <a:cs typeface="Biome" panose="020B0503030204020804" pitchFamily="34" charset="0"/>
              </a:rPr>
            </a:br>
            <a:endParaRPr lang="en-EE" sz="2400" dirty="0">
              <a:solidFill>
                <a:srgbClr val="98B7E5"/>
              </a:solidFill>
              <a:latin typeface="Biome" panose="020B0503030204020804" pitchFamily="34" charset="0"/>
              <a:cs typeface="Biome" panose="020B0503030204020804" pitchFamily="34" charset="0"/>
            </a:endParaRPr>
          </a:p>
        </p:txBody>
      </p:sp>
      <p:sp>
        <p:nvSpPr>
          <p:cNvPr id="3" name="Content Placeholder 2">
            <a:extLst>
              <a:ext uri="{FF2B5EF4-FFF2-40B4-BE49-F238E27FC236}">
                <a16:creationId xmlns:a16="http://schemas.microsoft.com/office/drawing/2014/main" id="{0C0EC705-95E7-38C4-2992-C9AE7DF423E2}"/>
              </a:ext>
            </a:extLst>
          </p:cNvPr>
          <p:cNvSpPr>
            <a:spLocks noGrp="1"/>
          </p:cNvSpPr>
          <p:nvPr>
            <p:ph idx="1"/>
          </p:nvPr>
        </p:nvSpPr>
        <p:spPr>
          <a:xfrm>
            <a:off x="5123120" y="1880545"/>
            <a:ext cx="6230680" cy="1250335"/>
          </a:xfrm>
        </p:spPr>
        <p:txBody>
          <a:bodyPr>
            <a:normAutofit/>
          </a:bodyPr>
          <a:lstStyle/>
          <a:p>
            <a:pPr marL="0" indent="0">
              <a:lnSpc>
                <a:spcPct val="134000"/>
              </a:lnSpc>
              <a:buNone/>
            </a:pPr>
            <a:r>
              <a:rPr lang="en-GB" dirty="0"/>
              <a:t>Please clone our working directory from GitHub</a:t>
            </a:r>
          </a:p>
        </p:txBody>
      </p:sp>
      <p:sp>
        <p:nvSpPr>
          <p:cNvPr id="5" name="Rectangle 4">
            <a:extLst>
              <a:ext uri="{FF2B5EF4-FFF2-40B4-BE49-F238E27FC236}">
                <a16:creationId xmlns:a16="http://schemas.microsoft.com/office/drawing/2014/main" id="{8ACFCC81-3593-5F0C-3B23-C1F1725A4F93}"/>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6" name="Rectangle 5">
            <a:extLst>
              <a:ext uri="{FF2B5EF4-FFF2-40B4-BE49-F238E27FC236}">
                <a16:creationId xmlns:a16="http://schemas.microsoft.com/office/drawing/2014/main" id="{EE881DA8-45E5-38C1-9F06-88489279571A}"/>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9660C971-AB32-B078-7BC4-57F47772E5A6}"/>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54077ADD-29AC-388F-5A74-A7C921A235F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4871" y="1615822"/>
            <a:ext cx="3478691" cy="3478691"/>
          </a:xfrm>
          <a:prstGeom prst="rect">
            <a:avLst/>
          </a:prstGeom>
        </p:spPr>
      </p:pic>
      <p:sp>
        <p:nvSpPr>
          <p:cNvPr id="13" name="Slide Number Placeholder 12">
            <a:extLst>
              <a:ext uri="{FF2B5EF4-FFF2-40B4-BE49-F238E27FC236}">
                <a16:creationId xmlns:a16="http://schemas.microsoft.com/office/drawing/2014/main" id="{7D1760DF-E6E4-D545-D14B-5716344008FF}"/>
              </a:ext>
            </a:extLst>
          </p:cNvPr>
          <p:cNvSpPr>
            <a:spLocks noGrp="1"/>
          </p:cNvSpPr>
          <p:nvPr>
            <p:ph type="sldNum" sz="quarter" idx="12"/>
          </p:nvPr>
        </p:nvSpPr>
        <p:spPr/>
        <p:txBody>
          <a:bodyPr/>
          <a:lstStyle/>
          <a:p>
            <a:fld id="{1BBB1392-5497-6446-B7D9-F62D46761D9A}" type="slidenum">
              <a:rPr lang="en-EE" sz="1400" smtClean="0"/>
              <a:t>3</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2DFB96C8-1D97-FD5A-BAF9-F149B1B4A940}"/>
              </a:ext>
            </a:extLst>
          </p:cNvPr>
          <p:cNvPicPr>
            <a:picLocks noChangeAspect="1"/>
          </p:cNvPicPr>
          <p:nvPr/>
        </p:nvPicPr>
        <p:blipFill>
          <a:blip r:embed="rId6"/>
          <a:srcRect l="4948" t="2905" r="4550" b="1686"/>
          <a:stretch>
            <a:fillRect/>
          </a:stretch>
        </p:blipFill>
        <p:spPr>
          <a:xfrm>
            <a:off x="186239" y="138380"/>
            <a:ext cx="1253710" cy="1258283"/>
          </a:xfrm>
          <a:prstGeom prst="rect">
            <a:avLst/>
          </a:prstGeom>
        </p:spPr>
      </p:pic>
    </p:spTree>
    <p:extLst>
      <p:ext uri="{BB962C8B-B14F-4D97-AF65-F5344CB8AC3E}">
        <p14:creationId xmlns:p14="http://schemas.microsoft.com/office/powerpoint/2010/main" val="28969256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CAB8B-467D-81B2-24C5-1D1041E48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D58B31-DA9E-8239-88E8-071762995053}"/>
              </a:ext>
            </a:extLst>
          </p:cNvPr>
          <p:cNvSpPr>
            <a:spLocks noGrp="1"/>
          </p:cNvSpPr>
          <p:nvPr>
            <p:ph type="title"/>
          </p:nvPr>
        </p:nvSpPr>
        <p:spPr>
          <a:xfrm>
            <a:off x="2068287" y="1056193"/>
            <a:ext cx="6230680" cy="1250335"/>
          </a:xfrm>
        </p:spPr>
        <p:txBody>
          <a:bodyPr>
            <a:noAutofit/>
          </a:bodyPr>
          <a:lstStyle/>
          <a:p>
            <a:r>
              <a:rPr lang="en-GB" sz="2800" b="1" dirty="0">
                <a:solidFill>
                  <a:srgbClr val="BED035"/>
                </a:solidFill>
                <a:latin typeface="Biome" panose="020B0503030204020804" pitchFamily="34" charset="0"/>
                <a:cs typeface="Biome" panose="020B0503030204020804" pitchFamily="34" charset="0"/>
              </a:rPr>
              <a:t>Feedback</a:t>
            </a:r>
            <a:endParaRPr lang="en-EE" sz="2400" dirty="0">
              <a:solidFill>
                <a:srgbClr val="98B7E5"/>
              </a:solidFill>
              <a:latin typeface="Biome" panose="020B0503030204020804" pitchFamily="34" charset="0"/>
              <a:cs typeface="Biome" panose="020B0503030204020804" pitchFamily="34" charset="0"/>
            </a:endParaRPr>
          </a:p>
        </p:txBody>
      </p:sp>
      <p:sp>
        <p:nvSpPr>
          <p:cNvPr id="3" name="Content Placeholder 2">
            <a:extLst>
              <a:ext uri="{FF2B5EF4-FFF2-40B4-BE49-F238E27FC236}">
                <a16:creationId xmlns:a16="http://schemas.microsoft.com/office/drawing/2014/main" id="{F272D07A-9291-36DB-F9A9-4A95DA9EC89A}"/>
              </a:ext>
            </a:extLst>
          </p:cNvPr>
          <p:cNvSpPr>
            <a:spLocks noGrp="1"/>
          </p:cNvSpPr>
          <p:nvPr>
            <p:ph idx="1"/>
          </p:nvPr>
        </p:nvSpPr>
        <p:spPr>
          <a:xfrm>
            <a:off x="2553029" y="2306528"/>
            <a:ext cx="6230680" cy="1250335"/>
          </a:xfrm>
        </p:spPr>
        <p:txBody>
          <a:bodyPr>
            <a:normAutofit/>
          </a:bodyPr>
          <a:lstStyle/>
          <a:p>
            <a:pPr marL="0" indent="0">
              <a:lnSpc>
                <a:spcPct val="134000"/>
              </a:lnSpc>
              <a:buNone/>
            </a:pPr>
            <a:r>
              <a:rPr lang="en-GB" dirty="0"/>
              <a:t>Please write in the chat how much time you spent on your homework.</a:t>
            </a:r>
          </a:p>
        </p:txBody>
      </p:sp>
      <p:sp>
        <p:nvSpPr>
          <p:cNvPr id="5" name="Rectangle 4">
            <a:extLst>
              <a:ext uri="{FF2B5EF4-FFF2-40B4-BE49-F238E27FC236}">
                <a16:creationId xmlns:a16="http://schemas.microsoft.com/office/drawing/2014/main" id="{A90F8E3E-DB5E-B085-3EB4-588744BE5F14}"/>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6" name="Rectangle 5">
            <a:extLst>
              <a:ext uri="{FF2B5EF4-FFF2-40B4-BE49-F238E27FC236}">
                <a16:creationId xmlns:a16="http://schemas.microsoft.com/office/drawing/2014/main" id="{A9D20286-8A52-C9CA-3B41-FDBBB883B60B}"/>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7501CEC5-9519-9AC3-03F0-E0DFAE043DFB}"/>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sp>
        <p:nvSpPr>
          <p:cNvPr id="13" name="Slide Number Placeholder 12">
            <a:extLst>
              <a:ext uri="{FF2B5EF4-FFF2-40B4-BE49-F238E27FC236}">
                <a16:creationId xmlns:a16="http://schemas.microsoft.com/office/drawing/2014/main" id="{757DCF96-3286-2F27-E34F-CDF7E0B6363B}"/>
              </a:ext>
            </a:extLst>
          </p:cNvPr>
          <p:cNvSpPr>
            <a:spLocks noGrp="1"/>
          </p:cNvSpPr>
          <p:nvPr>
            <p:ph type="sldNum" sz="quarter" idx="12"/>
          </p:nvPr>
        </p:nvSpPr>
        <p:spPr/>
        <p:txBody>
          <a:bodyPr/>
          <a:lstStyle/>
          <a:p>
            <a:fld id="{1BBB1392-5497-6446-B7D9-F62D46761D9A}" type="slidenum">
              <a:rPr lang="en-EE" sz="1400" smtClean="0"/>
              <a:t>4</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9BDA0FBF-D02C-A7E0-BDFB-02C0CE9673A7}"/>
              </a:ext>
            </a:extLst>
          </p:cNvPr>
          <p:cNvPicPr>
            <a:picLocks noChangeAspect="1"/>
          </p:cNvPicPr>
          <p:nvPr/>
        </p:nvPicPr>
        <p:blipFill>
          <a:blip r:embed="rId3"/>
          <a:srcRect l="4948" t="2905" r="4550" b="1686"/>
          <a:stretch>
            <a:fillRect/>
          </a:stretch>
        </p:blipFill>
        <p:spPr>
          <a:xfrm>
            <a:off x="186239" y="138380"/>
            <a:ext cx="1253710" cy="1258283"/>
          </a:xfrm>
          <a:prstGeom prst="rect">
            <a:avLst/>
          </a:prstGeom>
        </p:spPr>
      </p:pic>
      <p:pic>
        <p:nvPicPr>
          <p:cNvPr id="8" name="Graphic 7" descr="Help with solid fill">
            <a:extLst>
              <a:ext uri="{FF2B5EF4-FFF2-40B4-BE49-F238E27FC236}">
                <a16:creationId xmlns:a16="http://schemas.microsoft.com/office/drawing/2014/main" id="{3E4C112E-47B9-AAF7-D4ED-C735614F517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96258" y="2474495"/>
            <a:ext cx="914400" cy="914400"/>
          </a:xfrm>
          <a:prstGeom prst="rect">
            <a:avLst/>
          </a:prstGeom>
        </p:spPr>
      </p:pic>
    </p:spTree>
    <p:extLst>
      <p:ext uri="{BB962C8B-B14F-4D97-AF65-F5344CB8AC3E}">
        <p14:creationId xmlns:p14="http://schemas.microsoft.com/office/powerpoint/2010/main" val="494964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588FA-A9F9-EF6A-47E7-7B3E86582CAD}"/>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85BBBE4-A877-6885-4AB8-8F916AE05760}"/>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294485D6-D587-4461-BD56-93D48C19A28B}"/>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E731BF45-B445-B731-A7AB-113B22BF9EC8}"/>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342C8795-59CE-63FF-37D6-9D5270E74BB5}"/>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90136C1F-47DE-FE6C-34E5-995C9D27B20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AB04F2B8-4045-86B9-1F1C-6BFC5876E454}"/>
              </a:ext>
            </a:extLst>
          </p:cNvPr>
          <p:cNvSpPr>
            <a:spLocks noGrp="1"/>
          </p:cNvSpPr>
          <p:nvPr>
            <p:ph type="sldNum" sz="quarter" idx="12"/>
          </p:nvPr>
        </p:nvSpPr>
        <p:spPr/>
        <p:txBody>
          <a:bodyPr/>
          <a:lstStyle/>
          <a:p>
            <a:fld id="{1BBB1392-5497-6446-B7D9-F62D46761D9A}" type="slidenum">
              <a:rPr lang="en-EE" sz="1400" smtClean="0"/>
              <a:t>5</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66BAC3F9-A607-A38C-ED06-A9B3DCB040C0}"/>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sp>
        <p:nvSpPr>
          <p:cNvPr id="12" name="TextBox 11">
            <a:extLst>
              <a:ext uri="{FF2B5EF4-FFF2-40B4-BE49-F238E27FC236}">
                <a16:creationId xmlns:a16="http://schemas.microsoft.com/office/drawing/2014/main" id="{424EA72F-A609-98CF-6C1B-5B67BBA799B5}"/>
              </a:ext>
            </a:extLst>
          </p:cNvPr>
          <p:cNvSpPr txBox="1"/>
          <p:nvPr/>
        </p:nvSpPr>
        <p:spPr>
          <a:xfrm>
            <a:off x="3909087" y="1821497"/>
            <a:ext cx="3963457" cy="523220"/>
          </a:xfrm>
          <a:prstGeom prst="rect">
            <a:avLst/>
          </a:prstGeom>
          <a:noFill/>
        </p:spPr>
        <p:txBody>
          <a:bodyPr wrap="none" rtlCol="0">
            <a:spAutoFit/>
          </a:bodyPr>
          <a:lstStyle/>
          <a:p>
            <a:r>
              <a:rPr lang="en-GB" sz="2800" dirty="0">
                <a:hlinkClick r:id="rId6"/>
              </a:rPr>
              <a:t>https://metalog.embl.de</a:t>
            </a:r>
            <a:endParaRPr lang="en-GB" sz="2800" dirty="0"/>
          </a:p>
        </p:txBody>
      </p:sp>
      <p:sp>
        <p:nvSpPr>
          <p:cNvPr id="3" name="TextBox 2">
            <a:extLst>
              <a:ext uri="{FF2B5EF4-FFF2-40B4-BE49-F238E27FC236}">
                <a16:creationId xmlns:a16="http://schemas.microsoft.com/office/drawing/2014/main" id="{854DE416-2246-F952-250B-F6786EF6D7D4}"/>
              </a:ext>
            </a:extLst>
          </p:cNvPr>
          <p:cNvSpPr txBox="1"/>
          <p:nvPr/>
        </p:nvSpPr>
        <p:spPr>
          <a:xfrm>
            <a:off x="813094" y="2937647"/>
            <a:ext cx="5587706" cy="646331"/>
          </a:xfrm>
          <a:prstGeom prst="rect">
            <a:avLst/>
          </a:prstGeom>
          <a:noFill/>
        </p:spPr>
        <p:txBody>
          <a:bodyPr wrap="square" rtlCol="0">
            <a:spAutoFit/>
          </a:bodyPr>
          <a:lstStyle/>
          <a:p>
            <a:r>
              <a:rPr lang="en-GB" dirty="0"/>
              <a:t>Metalog is a repository of manually curated metadata for metagenomic samples</a:t>
            </a:r>
            <a:endParaRPr lang="en-EE" dirty="0"/>
          </a:p>
        </p:txBody>
      </p:sp>
      <p:sp>
        <p:nvSpPr>
          <p:cNvPr id="7" name="TextBox 6">
            <a:extLst>
              <a:ext uri="{FF2B5EF4-FFF2-40B4-BE49-F238E27FC236}">
                <a16:creationId xmlns:a16="http://schemas.microsoft.com/office/drawing/2014/main" id="{FD59E441-372E-DBFF-687F-72D8BC1C3C64}"/>
              </a:ext>
            </a:extLst>
          </p:cNvPr>
          <p:cNvSpPr txBox="1"/>
          <p:nvPr/>
        </p:nvSpPr>
        <p:spPr>
          <a:xfrm>
            <a:off x="813094" y="3764119"/>
            <a:ext cx="6036717" cy="369332"/>
          </a:xfrm>
          <a:prstGeom prst="rect">
            <a:avLst/>
          </a:prstGeom>
          <a:noFill/>
        </p:spPr>
        <p:txBody>
          <a:bodyPr wrap="none" rtlCol="0">
            <a:spAutoFit/>
          </a:bodyPr>
          <a:lstStyle/>
          <a:p>
            <a:r>
              <a:rPr lang="en-GB" dirty="0"/>
              <a:t>It is being developed in the </a:t>
            </a:r>
            <a:r>
              <a:rPr lang="en-GB" u="sng" dirty="0">
                <a:hlinkClick r:id="rId7"/>
              </a:rPr>
              <a:t>Bork Group</a:t>
            </a:r>
            <a:r>
              <a:rPr lang="en-GB" dirty="0"/>
              <a:t> at </a:t>
            </a:r>
            <a:r>
              <a:rPr lang="en-GB" u="sng" dirty="0">
                <a:hlinkClick r:id="rId8"/>
              </a:rPr>
              <a:t>EMBL Heidelberg</a:t>
            </a:r>
            <a:endParaRPr lang="en-EE" dirty="0"/>
          </a:p>
        </p:txBody>
      </p:sp>
      <p:pic>
        <p:nvPicPr>
          <p:cNvPr id="1026" name="Picture 2" descr="European Molecular Biology Laboratory, EMBL | myScience / directory /  research institutions / Germany">
            <a:extLst>
              <a:ext uri="{FF2B5EF4-FFF2-40B4-BE49-F238E27FC236}">
                <a16:creationId xmlns:a16="http://schemas.microsoft.com/office/drawing/2014/main" id="{1F10C009-7EA3-B1BE-B394-EC03E2A925B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69554" y="2882460"/>
            <a:ext cx="4650726" cy="1157514"/>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22D0C624-18F4-D0CD-7417-DAAADA7031A9}"/>
              </a:ext>
            </a:extLst>
          </p:cNvPr>
          <p:cNvSpPr txBox="1"/>
          <p:nvPr/>
        </p:nvSpPr>
        <p:spPr>
          <a:xfrm>
            <a:off x="813094" y="4325784"/>
            <a:ext cx="10322993" cy="923330"/>
          </a:xfrm>
          <a:prstGeom prst="rect">
            <a:avLst/>
          </a:prstGeom>
          <a:noFill/>
        </p:spPr>
        <p:txBody>
          <a:bodyPr wrap="square" rtlCol="0">
            <a:spAutoFit/>
          </a:bodyPr>
          <a:lstStyle/>
          <a:p>
            <a:r>
              <a:rPr lang="en-GB" dirty="0"/>
              <a:t>With support from more than 30 countries, the European Molecular Biology Laboratory (EMBL) has more than 110 independent research groups and service teams covering the spectrum of molecular biology at six sites in </a:t>
            </a:r>
            <a:r>
              <a:rPr lang="en-GB" dirty="0">
                <a:hlinkClick r:id="rId10"/>
              </a:rPr>
              <a:t>Barcelona</a:t>
            </a:r>
            <a:r>
              <a:rPr lang="en-GB" dirty="0"/>
              <a:t>, </a:t>
            </a:r>
            <a:r>
              <a:rPr lang="en-GB" dirty="0">
                <a:hlinkClick r:id="rId11"/>
              </a:rPr>
              <a:t>Grenoble</a:t>
            </a:r>
            <a:r>
              <a:rPr lang="en-GB" dirty="0"/>
              <a:t>, </a:t>
            </a:r>
            <a:r>
              <a:rPr lang="en-GB" dirty="0">
                <a:hlinkClick r:id="rId12"/>
              </a:rPr>
              <a:t>Hamburg</a:t>
            </a:r>
            <a:r>
              <a:rPr lang="en-GB" dirty="0"/>
              <a:t>, </a:t>
            </a:r>
            <a:r>
              <a:rPr lang="en-GB" dirty="0">
                <a:highlight>
                  <a:srgbClr val="D5F61F"/>
                </a:highlight>
                <a:hlinkClick r:id="rId8"/>
              </a:rPr>
              <a:t>Heidelberg</a:t>
            </a:r>
            <a:r>
              <a:rPr lang="en-GB" dirty="0"/>
              <a:t>, </a:t>
            </a:r>
            <a:r>
              <a:rPr lang="en-GB" dirty="0">
                <a:highlight>
                  <a:srgbClr val="D5F61F"/>
                </a:highlight>
                <a:hlinkClick r:id="rId13"/>
              </a:rPr>
              <a:t>EMBL-EBI Hinxton</a:t>
            </a:r>
            <a:r>
              <a:rPr lang="en-GB" dirty="0"/>
              <a:t>, and </a:t>
            </a:r>
            <a:r>
              <a:rPr lang="en-GB" dirty="0">
                <a:hlinkClick r:id="rId14"/>
              </a:rPr>
              <a:t>Rome</a:t>
            </a:r>
            <a:r>
              <a:rPr lang="en-GB" dirty="0"/>
              <a:t>.</a:t>
            </a:r>
            <a:endParaRPr lang="en-EE" dirty="0"/>
          </a:p>
        </p:txBody>
      </p:sp>
    </p:spTree>
    <p:extLst>
      <p:ext uri="{BB962C8B-B14F-4D97-AF65-F5344CB8AC3E}">
        <p14:creationId xmlns:p14="http://schemas.microsoft.com/office/powerpoint/2010/main" val="2802587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F8216-59A3-BBB4-1AC4-A6063C20F27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568A805D-E780-CFA3-4C57-F52349DCD230}"/>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745C04A0-DD3A-E2E9-1D00-397E18AE4474}"/>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07B886C8-A6E0-8BFF-4B5D-2092EC108431}"/>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ABEBF929-2D7F-85AC-25FD-1F8D913687D4}"/>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46D66BCE-FCA5-34C9-88D6-D14BE5B0F99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B06939DF-9D11-DD70-8B16-C362C332B292}"/>
              </a:ext>
            </a:extLst>
          </p:cNvPr>
          <p:cNvSpPr>
            <a:spLocks noGrp="1"/>
          </p:cNvSpPr>
          <p:nvPr>
            <p:ph type="sldNum" sz="quarter" idx="12"/>
          </p:nvPr>
        </p:nvSpPr>
        <p:spPr/>
        <p:txBody>
          <a:bodyPr/>
          <a:lstStyle/>
          <a:p>
            <a:fld id="{1BBB1392-5497-6446-B7D9-F62D46761D9A}" type="slidenum">
              <a:rPr lang="en-EE" sz="1400" smtClean="0"/>
              <a:t>6</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E513045A-06DD-7CA4-4220-B060322BD6B1}"/>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sp>
        <p:nvSpPr>
          <p:cNvPr id="12" name="TextBox 11">
            <a:extLst>
              <a:ext uri="{FF2B5EF4-FFF2-40B4-BE49-F238E27FC236}">
                <a16:creationId xmlns:a16="http://schemas.microsoft.com/office/drawing/2014/main" id="{7822E54B-0F50-C38E-9CEA-5068C718B8F9}"/>
              </a:ext>
            </a:extLst>
          </p:cNvPr>
          <p:cNvSpPr txBox="1"/>
          <p:nvPr/>
        </p:nvSpPr>
        <p:spPr>
          <a:xfrm>
            <a:off x="7251001" y="2830008"/>
            <a:ext cx="3963457" cy="523220"/>
          </a:xfrm>
          <a:prstGeom prst="rect">
            <a:avLst/>
          </a:prstGeom>
          <a:noFill/>
        </p:spPr>
        <p:txBody>
          <a:bodyPr wrap="none" rtlCol="0">
            <a:spAutoFit/>
          </a:bodyPr>
          <a:lstStyle/>
          <a:p>
            <a:r>
              <a:rPr lang="en-GB" sz="2800" dirty="0">
                <a:hlinkClick r:id="rId6"/>
              </a:rPr>
              <a:t>https://metalog.embl.de</a:t>
            </a:r>
            <a:endParaRPr lang="en-GB" sz="2800" dirty="0"/>
          </a:p>
        </p:txBody>
      </p:sp>
      <p:pic>
        <p:nvPicPr>
          <p:cNvPr id="10" name="Picture 9" descr="A screenshot of a computer&#10;&#10;AI-generated content may be incorrect.">
            <a:extLst>
              <a:ext uri="{FF2B5EF4-FFF2-40B4-BE49-F238E27FC236}">
                <a16:creationId xmlns:a16="http://schemas.microsoft.com/office/drawing/2014/main" id="{1977EE3F-018F-7D48-2BB4-7FB7F4C2F2E2}"/>
              </a:ext>
            </a:extLst>
          </p:cNvPr>
          <p:cNvPicPr>
            <a:picLocks noChangeAspect="1"/>
          </p:cNvPicPr>
          <p:nvPr/>
        </p:nvPicPr>
        <p:blipFill>
          <a:blip r:embed="rId7"/>
          <a:stretch>
            <a:fillRect/>
          </a:stretch>
        </p:blipFill>
        <p:spPr>
          <a:xfrm>
            <a:off x="813094" y="2163843"/>
            <a:ext cx="5508807" cy="3904529"/>
          </a:xfrm>
          <a:prstGeom prst="rect">
            <a:avLst/>
          </a:prstGeom>
        </p:spPr>
      </p:pic>
      <p:sp>
        <p:nvSpPr>
          <p:cNvPr id="14" name="TextBox 13">
            <a:extLst>
              <a:ext uri="{FF2B5EF4-FFF2-40B4-BE49-F238E27FC236}">
                <a16:creationId xmlns:a16="http://schemas.microsoft.com/office/drawing/2014/main" id="{6F226ADC-BDC8-6BD3-9311-FBE537C0ABEE}"/>
              </a:ext>
            </a:extLst>
          </p:cNvPr>
          <p:cNvSpPr txBox="1"/>
          <p:nvPr/>
        </p:nvSpPr>
        <p:spPr>
          <a:xfrm>
            <a:off x="7282333" y="4308079"/>
            <a:ext cx="3932125" cy="923330"/>
          </a:xfrm>
          <a:prstGeom prst="rect">
            <a:avLst/>
          </a:prstGeom>
          <a:noFill/>
        </p:spPr>
        <p:txBody>
          <a:bodyPr wrap="square" rtlCol="0">
            <a:spAutoFit/>
          </a:bodyPr>
          <a:lstStyle/>
          <a:p>
            <a:r>
              <a:rPr lang="en-GB" dirty="0">
                <a:hlinkClick r:id="rId8"/>
              </a:rPr>
              <a:t>https://academic.oup.com/nar/article/54/D1/D826/8307355</a:t>
            </a:r>
            <a:endParaRPr lang="en-GB" dirty="0"/>
          </a:p>
          <a:p>
            <a:endParaRPr lang="en-EE" dirty="0"/>
          </a:p>
        </p:txBody>
      </p:sp>
      <p:sp>
        <p:nvSpPr>
          <p:cNvPr id="15" name="TextBox 14">
            <a:extLst>
              <a:ext uri="{FF2B5EF4-FFF2-40B4-BE49-F238E27FC236}">
                <a16:creationId xmlns:a16="http://schemas.microsoft.com/office/drawing/2014/main" id="{F608F51F-6E9C-6EFB-A9DF-08F0D3BA43F2}"/>
              </a:ext>
            </a:extLst>
          </p:cNvPr>
          <p:cNvSpPr txBox="1"/>
          <p:nvPr/>
        </p:nvSpPr>
        <p:spPr>
          <a:xfrm>
            <a:off x="8525414" y="2409824"/>
            <a:ext cx="1215397" cy="369332"/>
          </a:xfrm>
          <a:prstGeom prst="rect">
            <a:avLst/>
          </a:prstGeom>
          <a:noFill/>
        </p:spPr>
        <p:txBody>
          <a:bodyPr wrap="none" rtlCol="0">
            <a:spAutoFit/>
          </a:bodyPr>
          <a:lstStyle/>
          <a:p>
            <a:r>
              <a:rPr lang="en-GB" dirty="0"/>
              <a:t>D</a:t>
            </a:r>
            <a:r>
              <a:rPr lang="en-EE" dirty="0"/>
              <a:t>atabase:</a:t>
            </a:r>
          </a:p>
        </p:txBody>
      </p:sp>
      <p:sp>
        <p:nvSpPr>
          <p:cNvPr id="16" name="TextBox 15">
            <a:extLst>
              <a:ext uri="{FF2B5EF4-FFF2-40B4-BE49-F238E27FC236}">
                <a16:creationId xmlns:a16="http://schemas.microsoft.com/office/drawing/2014/main" id="{92DB162C-128B-8B8C-0190-2C218891E04B}"/>
              </a:ext>
            </a:extLst>
          </p:cNvPr>
          <p:cNvSpPr txBox="1"/>
          <p:nvPr/>
        </p:nvSpPr>
        <p:spPr>
          <a:xfrm>
            <a:off x="8719248" y="3906997"/>
            <a:ext cx="827727" cy="369332"/>
          </a:xfrm>
          <a:prstGeom prst="rect">
            <a:avLst/>
          </a:prstGeom>
          <a:noFill/>
        </p:spPr>
        <p:txBody>
          <a:bodyPr wrap="none" rtlCol="0">
            <a:spAutoFit/>
          </a:bodyPr>
          <a:lstStyle/>
          <a:p>
            <a:r>
              <a:rPr lang="en-EE" dirty="0"/>
              <a:t>Paper:</a:t>
            </a:r>
          </a:p>
        </p:txBody>
      </p:sp>
    </p:spTree>
    <p:extLst>
      <p:ext uri="{BB962C8B-B14F-4D97-AF65-F5344CB8AC3E}">
        <p14:creationId xmlns:p14="http://schemas.microsoft.com/office/powerpoint/2010/main" val="3553851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99676-2800-A6CE-E399-1F5FF231841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31B1A25-B694-A3C1-F5C9-D29890F093F5}"/>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93870358-D77E-65E4-8E4E-5F9B5A9A5524}"/>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90570123-4343-6D9C-68A0-8D059F1B2C45}"/>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F50F8EBA-5F0B-F46D-3D5D-ABD8B02750C9}"/>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92D1882B-F1EB-EF3F-C565-8FD40FFE5C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546AE896-F2E0-AC01-AF05-A1374CB2D5E1}"/>
              </a:ext>
            </a:extLst>
          </p:cNvPr>
          <p:cNvSpPr>
            <a:spLocks noGrp="1"/>
          </p:cNvSpPr>
          <p:nvPr>
            <p:ph type="sldNum" sz="quarter" idx="12"/>
          </p:nvPr>
        </p:nvSpPr>
        <p:spPr/>
        <p:txBody>
          <a:bodyPr/>
          <a:lstStyle/>
          <a:p>
            <a:fld id="{1BBB1392-5497-6446-B7D9-F62D46761D9A}" type="slidenum">
              <a:rPr lang="en-EE" sz="1400" smtClean="0"/>
              <a:t>7</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06BAC100-DCC7-19C7-E5E5-0C9C8B237157}"/>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sp>
        <p:nvSpPr>
          <p:cNvPr id="12" name="TextBox 11">
            <a:extLst>
              <a:ext uri="{FF2B5EF4-FFF2-40B4-BE49-F238E27FC236}">
                <a16:creationId xmlns:a16="http://schemas.microsoft.com/office/drawing/2014/main" id="{22863261-7834-FACF-9C1A-7E864F0FD1F0}"/>
              </a:ext>
            </a:extLst>
          </p:cNvPr>
          <p:cNvSpPr txBox="1"/>
          <p:nvPr/>
        </p:nvSpPr>
        <p:spPr>
          <a:xfrm>
            <a:off x="382115" y="5489769"/>
            <a:ext cx="2616935" cy="646331"/>
          </a:xfrm>
          <a:prstGeom prst="rect">
            <a:avLst/>
          </a:prstGeom>
          <a:noFill/>
        </p:spPr>
        <p:txBody>
          <a:bodyPr wrap="none" rtlCol="0">
            <a:spAutoFit/>
          </a:bodyPr>
          <a:lstStyle/>
          <a:p>
            <a:r>
              <a:rPr lang="en-GB" dirty="0">
                <a:hlinkClick r:id="rId6"/>
              </a:rPr>
              <a:t>https://metalog.embl.de</a:t>
            </a:r>
            <a:endParaRPr lang="en-GB" dirty="0"/>
          </a:p>
          <a:p>
            <a:endParaRPr lang="en-EE" dirty="0"/>
          </a:p>
        </p:txBody>
      </p:sp>
      <p:sp>
        <p:nvSpPr>
          <p:cNvPr id="15" name="TextBox 14">
            <a:extLst>
              <a:ext uri="{FF2B5EF4-FFF2-40B4-BE49-F238E27FC236}">
                <a16:creationId xmlns:a16="http://schemas.microsoft.com/office/drawing/2014/main" id="{1522A952-9E28-51E2-C37D-39EB308E46F8}"/>
              </a:ext>
            </a:extLst>
          </p:cNvPr>
          <p:cNvSpPr txBox="1"/>
          <p:nvPr/>
        </p:nvSpPr>
        <p:spPr>
          <a:xfrm>
            <a:off x="3238808" y="3004458"/>
            <a:ext cx="5537093" cy="1077218"/>
          </a:xfrm>
          <a:prstGeom prst="rect">
            <a:avLst/>
          </a:prstGeom>
          <a:noFill/>
        </p:spPr>
        <p:txBody>
          <a:bodyPr wrap="none" rtlCol="0">
            <a:spAutoFit/>
          </a:bodyPr>
          <a:lstStyle/>
          <a:p>
            <a:r>
              <a:rPr lang="en-EE" sz="3200" dirty="0"/>
              <a:t>Metadata + Taxonomic profile</a:t>
            </a:r>
          </a:p>
          <a:p>
            <a:r>
              <a:rPr lang="en-EE" sz="3200" dirty="0"/>
              <a:t>	     	</a:t>
            </a:r>
            <a:r>
              <a:rPr lang="en-EE" sz="3200" i="1" dirty="0"/>
              <a:t>     (MetaPlAn 4.0)</a:t>
            </a:r>
          </a:p>
        </p:txBody>
      </p:sp>
    </p:spTree>
    <p:extLst>
      <p:ext uri="{BB962C8B-B14F-4D97-AF65-F5344CB8AC3E}">
        <p14:creationId xmlns:p14="http://schemas.microsoft.com/office/powerpoint/2010/main" val="951721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45145-C22A-1FF0-F38D-5CD6FFE7440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68F22CF-EF80-DD53-1CDB-9EB7A5817034}"/>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EC265D54-49EF-D3BD-E4E0-8927D9D33AEC}"/>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4FFE04D0-208E-E698-EEEB-19DBDE19089A}"/>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E671396F-B615-894C-AB2F-27B1388867B3}"/>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E8E522B5-096E-9B4C-9D4D-B94757D205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4B4AA3CE-54FE-9D50-4EA8-F09E37A6BFCC}"/>
              </a:ext>
            </a:extLst>
          </p:cNvPr>
          <p:cNvSpPr>
            <a:spLocks noGrp="1"/>
          </p:cNvSpPr>
          <p:nvPr>
            <p:ph type="sldNum" sz="quarter" idx="12"/>
          </p:nvPr>
        </p:nvSpPr>
        <p:spPr/>
        <p:txBody>
          <a:bodyPr/>
          <a:lstStyle/>
          <a:p>
            <a:fld id="{1BBB1392-5497-6446-B7D9-F62D46761D9A}" type="slidenum">
              <a:rPr lang="en-EE" sz="1400" smtClean="0"/>
              <a:t>8</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6A31DA54-1253-5482-DD31-08F1E32D89BB}"/>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9F460A6C-8E64-2615-E1A5-17B089447A1F}"/>
              </a:ext>
            </a:extLst>
          </p:cNvPr>
          <p:cNvPicPr>
            <a:picLocks noChangeAspect="1"/>
          </p:cNvPicPr>
          <p:nvPr/>
        </p:nvPicPr>
        <p:blipFill>
          <a:blip r:embed="rId6"/>
          <a:srcRect l="4177" t="13820" r="3361" b="9793"/>
          <a:stretch>
            <a:fillRect/>
          </a:stretch>
        </p:blipFill>
        <p:spPr>
          <a:xfrm>
            <a:off x="1850572" y="1396663"/>
            <a:ext cx="8260896" cy="4438315"/>
          </a:xfrm>
          <a:prstGeom prst="rect">
            <a:avLst/>
          </a:prstGeom>
        </p:spPr>
      </p:pic>
      <p:sp>
        <p:nvSpPr>
          <p:cNvPr id="12" name="TextBox 11">
            <a:extLst>
              <a:ext uri="{FF2B5EF4-FFF2-40B4-BE49-F238E27FC236}">
                <a16:creationId xmlns:a16="http://schemas.microsoft.com/office/drawing/2014/main" id="{F02F14F8-46EF-664E-3AA3-388392D3012B}"/>
              </a:ext>
            </a:extLst>
          </p:cNvPr>
          <p:cNvSpPr txBox="1"/>
          <p:nvPr/>
        </p:nvSpPr>
        <p:spPr>
          <a:xfrm>
            <a:off x="382115" y="5489769"/>
            <a:ext cx="2616935" cy="646331"/>
          </a:xfrm>
          <a:prstGeom prst="rect">
            <a:avLst/>
          </a:prstGeom>
          <a:noFill/>
        </p:spPr>
        <p:txBody>
          <a:bodyPr wrap="none" rtlCol="0">
            <a:spAutoFit/>
          </a:bodyPr>
          <a:lstStyle/>
          <a:p>
            <a:r>
              <a:rPr lang="en-GB" dirty="0">
                <a:hlinkClick r:id="rId7"/>
              </a:rPr>
              <a:t>https://metalog.embl.de</a:t>
            </a:r>
            <a:endParaRPr lang="en-GB" dirty="0"/>
          </a:p>
          <a:p>
            <a:endParaRPr lang="en-EE" dirty="0"/>
          </a:p>
        </p:txBody>
      </p:sp>
    </p:spTree>
    <p:extLst>
      <p:ext uri="{BB962C8B-B14F-4D97-AF65-F5344CB8AC3E}">
        <p14:creationId xmlns:p14="http://schemas.microsoft.com/office/powerpoint/2010/main" val="1159836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C3A4E-82C0-E236-D5FB-2AF25D0B11C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87FE5C5-43F8-C972-87E0-E4F25E481FF7}"/>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3330836E-CB99-CE68-05DF-019AA1D29B99}"/>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65292D5A-E163-B035-8DF7-BA6AAC2AE76F}"/>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5D3AAE32-C54D-03F7-10D0-B419F2CA5F3F}"/>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579D811D-6406-24FB-54C7-365945A6AB1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957A0F23-8D48-879A-E38F-AE13CB319982}"/>
              </a:ext>
            </a:extLst>
          </p:cNvPr>
          <p:cNvSpPr>
            <a:spLocks noGrp="1"/>
          </p:cNvSpPr>
          <p:nvPr>
            <p:ph type="sldNum" sz="quarter" idx="12"/>
          </p:nvPr>
        </p:nvSpPr>
        <p:spPr/>
        <p:txBody>
          <a:bodyPr/>
          <a:lstStyle/>
          <a:p>
            <a:fld id="{1BBB1392-5497-6446-B7D9-F62D46761D9A}" type="slidenum">
              <a:rPr lang="en-EE" sz="1400" smtClean="0"/>
              <a:t>9</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431BCE81-93B6-8B82-AD20-E893CA5008A8}"/>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F48C917F-F1BE-C1C3-09A8-9BA4F4899284}"/>
              </a:ext>
            </a:extLst>
          </p:cNvPr>
          <p:cNvPicPr>
            <a:picLocks noChangeAspect="1"/>
          </p:cNvPicPr>
          <p:nvPr/>
        </p:nvPicPr>
        <p:blipFill>
          <a:blip r:embed="rId6"/>
          <a:srcRect l="4177" t="13820" r="3361" b="9793"/>
          <a:stretch>
            <a:fillRect/>
          </a:stretch>
        </p:blipFill>
        <p:spPr>
          <a:xfrm>
            <a:off x="1850572" y="1396663"/>
            <a:ext cx="8260896" cy="4438315"/>
          </a:xfrm>
          <a:prstGeom prst="rect">
            <a:avLst/>
          </a:prstGeom>
        </p:spPr>
      </p:pic>
      <p:sp>
        <p:nvSpPr>
          <p:cNvPr id="12" name="TextBox 11">
            <a:extLst>
              <a:ext uri="{FF2B5EF4-FFF2-40B4-BE49-F238E27FC236}">
                <a16:creationId xmlns:a16="http://schemas.microsoft.com/office/drawing/2014/main" id="{6A1FB671-C4C8-CB46-A259-5DC3D1988A40}"/>
              </a:ext>
            </a:extLst>
          </p:cNvPr>
          <p:cNvSpPr txBox="1"/>
          <p:nvPr/>
        </p:nvSpPr>
        <p:spPr>
          <a:xfrm>
            <a:off x="382115" y="5489769"/>
            <a:ext cx="2616935" cy="646331"/>
          </a:xfrm>
          <a:prstGeom prst="rect">
            <a:avLst/>
          </a:prstGeom>
          <a:noFill/>
        </p:spPr>
        <p:txBody>
          <a:bodyPr wrap="none" rtlCol="0">
            <a:spAutoFit/>
          </a:bodyPr>
          <a:lstStyle/>
          <a:p>
            <a:r>
              <a:rPr lang="en-GB" dirty="0">
                <a:hlinkClick r:id="rId7"/>
              </a:rPr>
              <a:t>https://metalog.embl.de</a:t>
            </a:r>
            <a:endParaRPr lang="en-GB" dirty="0"/>
          </a:p>
          <a:p>
            <a:endParaRPr lang="en-EE" dirty="0"/>
          </a:p>
        </p:txBody>
      </p:sp>
      <p:sp>
        <p:nvSpPr>
          <p:cNvPr id="3" name="Rounded Rectangle 2">
            <a:extLst>
              <a:ext uri="{FF2B5EF4-FFF2-40B4-BE49-F238E27FC236}">
                <a16:creationId xmlns:a16="http://schemas.microsoft.com/office/drawing/2014/main" id="{E680C3D7-FC05-9131-43D9-42C174FA7820}"/>
              </a:ext>
            </a:extLst>
          </p:cNvPr>
          <p:cNvSpPr/>
          <p:nvPr/>
        </p:nvSpPr>
        <p:spPr>
          <a:xfrm>
            <a:off x="1659508" y="2190850"/>
            <a:ext cx="8451959" cy="2529793"/>
          </a:xfrm>
          <a:prstGeom prst="roundRect">
            <a:avLst/>
          </a:prstGeom>
          <a:solidFill>
            <a:srgbClr val="BFDB1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Please choose which environment you want to analyse.</a:t>
            </a:r>
          </a:p>
          <a:p>
            <a:pPr algn="ctr"/>
            <a:br>
              <a:rPr lang="en-GB" dirty="0">
                <a:solidFill>
                  <a:schemeClr val="tx1"/>
                </a:solidFill>
              </a:rPr>
            </a:br>
            <a:r>
              <a:rPr lang="en-GB" sz="1600" i="1" dirty="0">
                <a:solidFill>
                  <a:schemeClr val="tx1"/>
                </a:solidFill>
              </a:rPr>
              <a:t>Write your choice in the chat. If you see that three people have already selected the same environment, please choose a different one.</a:t>
            </a:r>
          </a:p>
          <a:p>
            <a:pPr algn="ctr"/>
            <a:endParaRPr lang="en-GB" sz="1600" i="1" dirty="0">
              <a:solidFill>
                <a:schemeClr val="tx1"/>
              </a:solidFill>
            </a:endParaRPr>
          </a:p>
          <a:p>
            <a:pPr algn="ctr"/>
            <a:r>
              <a:rPr lang="en-GB" sz="1600" i="1" dirty="0">
                <a:solidFill>
                  <a:schemeClr val="tx1"/>
                </a:solidFill>
              </a:rPr>
              <a:t>Options:</a:t>
            </a:r>
          </a:p>
          <a:p>
            <a:pPr algn="ctr"/>
            <a:r>
              <a:rPr lang="en-GB" sz="1600" i="1" dirty="0">
                <a:solidFill>
                  <a:schemeClr val="tx1"/>
                </a:solidFill>
              </a:rPr>
              <a:t>Human, ocean, animal, environmental</a:t>
            </a:r>
            <a:endParaRPr lang="en-EE" i="1" dirty="0">
              <a:solidFill>
                <a:schemeClr val="tx1"/>
              </a:solidFill>
            </a:endParaRPr>
          </a:p>
        </p:txBody>
      </p:sp>
    </p:spTree>
    <p:extLst>
      <p:ext uri="{BB962C8B-B14F-4D97-AF65-F5344CB8AC3E}">
        <p14:creationId xmlns:p14="http://schemas.microsoft.com/office/powerpoint/2010/main" val="31993013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1D9D1-2D9A-7C78-4C54-00A81D3AF4F7}"/>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CCABC311-D1A2-7DFE-CFD0-EB1D69AD18B6}"/>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2DA97C45-16B8-43AC-934C-222149B12F95}"/>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BC9935C3-341E-42CF-E944-911B6B871E9A}"/>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D7463D94-E0E4-0253-519F-5039776D4F0A}"/>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319A2035-95B3-985C-79FE-86AF07075A3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987F2C06-E3CD-D824-BEEE-33FAA8C268D7}"/>
              </a:ext>
            </a:extLst>
          </p:cNvPr>
          <p:cNvSpPr>
            <a:spLocks noGrp="1"/>
          </p:cNvSpPr>
          <p:nvPr>
            <p:ph type="sldNum" sz="quarter" idx="12"/>
          </p:nvPr>
        </p:nvSpPr>
        <p:spPr/>
        <p:txBody>
          <a:bodyPr/>
          <a:lstStyle/>
          <a:p>
            <a:fld id="{1BBB1392-5497-6446-B7D9-F62D46761D9A}" type="slidenum">
              <a:rPr lang="en-EE" sz="1400" smtClean="0"/>
              <a:t>10</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977EC6CD-F31C-4D18-B528-8AFF1A756501}"/>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sp>
        <p:nvSpPr>
          <p:cNvPr id="12" name="TextBox 11">
            <a:extLst>
              <a:ext uri="{FF2B5EF4-FFF2-40B4-BE49-F238E27FC236}">
                <a16:creationId xmlns:a16="http://schemas.microsoft.com/office/drawing/2014/main" id="{14C701C0-FC57-9AF1-8AE4-DEAF80938D9F}"/>
              </a:ext>
            </a:extLst>
          </p:cNvPr>
          <p:cNvSpPr txBox="1"/>
          <p:nvPr/>
        </p:nvSpPr>
        <p:spPr>
          <a:xfrm>
            <a:off x="382115" y="5489769"/>
            <a:ext cx="2616935" cy="646331"/>
          </a:xfrm>
          <a:prstGeom prst="rect">
            <a:avLst/>
          </a:prstGeom>
          <a:noFill/>
        </p:spPr>
        <p:txBody>
          <a:bodyPr wrap="none" rtlCol="0">
            <a:spAutoFit/>
          </a:bodyPr>
          <a:lstStyle/>
          <a:p>
            <a:r>
              <a:rPr lang="en-GB" dirty="0">
                <a:hlinkClick r:id="rId6"/>
              </a:rPr>
              <a:t>https://metalog.embl.de</a:t>
            </a:r>
            <a:endParaRPr lang="en-GB" dirty="0"/>
          </a:p>
          <a:p>
            <a:endParaRPr lang="en-EE" dirty="0"/>
          </a:p>
        </p:txBody>
      </p:sp>
      <p:sp>
        <p:nvSpPr>
          <p:cNvPr id="7" name="TextBox 6">
            <a:extLst>
              <a:ext uri="{FF2B5EF4-FFF2-40B4-BE49-F238E27FC236}">
                <a16:creationId xmlns:a16="http://schemas.microsoft.com/office/drawing/2014/main" id="{705E8238-ADA8-6C6B-70C2-FAEC5ACB4D3E}"/>
              </a:ext>
            </a:extLst>
          </p:cNvPr>
          <p:cNvSpPr txBox="1"/>
          <p:nvPr/>
        </p:nvSpPr>
        <p:spPr>
          <a:xfrm>
            <a:off x="833592" y="1675685"/>
            <a:ext cx="9884229" cy="923330"/>
          </a:xfrm>
          <a:prstGeom prst="rect">
            <a:avLst/>
          </a:prstGeom>
          <a:noFill/>
        </p:spPr>
        <p:txBody>
          <a:bodyPr wrap="square" rtlCol="0">
            <a:spAutoFit/>
          </a:bodyPr>
          <a:lstStyle/>
          <a:p>
            <a:r>
              <a:rPr lang="en-GB" b="1" dirty="0"/>
              <a:t>Task 1. Exploratory analysis of the selected dataset</a:t>
            </a:r>
            <a:endParaRPr lang="en-GB" dirty="0"/>
          </a:p>
          <a:p>
            <a:endParaRPr lang="en-GB" dirty="0"/>
          </a:p>
          <a:p>
            <a:r>
              <a:rPr lang="en-GB" dirty="0"/>
              <a:t>Please write your ideas in the chat about what you can check to understand your dataset better …</a:t>
            </a:r>
          </a:p>
        </p:txBody>
      </p:sp>
      <p:pic>
        <p:nvPicPr>
          <p:cNvPr id="8" name="Graphic 7" descr="Chat bubble with solid fill">
            <a:extLst>
              <a:ext uri="{FF2B5EF4-FFF2-40B4-BE49-F238E27FC236}">
                <a16:creationId xmlns:a16="http://schemas.microsoft.com/office/drawing/2014/main" id="{7E282F22-42F1-B010-3539-D1475DE2561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627792" y="1944852"/>
            <a:ext cx="575951" cy="575951"/>
          </a:xfrm>
          <a:prstGeom prst="rect">
            <a:avLst/>
          </a:prstGeom>
        </p:spPr>
      </p:pic>
    </p:spTree>
    <p:extLst>
      <p:ext uri="{BB962C8B-B14F-4D97-AF65-F5344CB8AC3E}">
        <p14:creationId xmlns:p14="http://schemas.microsoft.com/office/powerpoint/2010/main" val="566412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7ADA3-6C58-94A5-799D-3EAA04DB7FE5}"/>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0A1ABF95-C6BC-35B0-A6FA-783411E21513}"/>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C1194978-848D-ED68-1FFC-7463E766A596}"/>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8EFA7859-BD36-5420-4592-B4945F3A5305}"/>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BC1C6B19-56FA-2A7E-B9D5-D5D9E7C97F91}"/>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967FDEAA-C270-44B4-9ED3-1F96C802B9B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FFF76AFD-1E3F-8451-60D9-250EDA392961}"/>
              </a:ext>
            </a:extLst>
          </p:cNvPr>
          <p:cNvSpPr>
            <a:spLocks noGrp="1"/>
          </p:cNvSpPr>
          <p:nvPr>
            <p:ph type="sldNum" sz="quarter" idx="12"/>
          </p:nvPr>
        </p:nvSpPr>
        <p:spPr/>
        <p:txBody>
          <a:bodyPr/>
          <a:lstStyle/>
          <a:p>
            <a:fld id="{1BBB1392-5497-6446-B7D9-F62D46761D9A}" type="slidenum">
              <a:rPr lang="en-EE" sz="1400" smtClean="0"/>
              <a:t>11</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74BDC26F-D86F-A54E-8062-63F608D21EDB}"/>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sp>
        <p:nvSpPr>
          <p:cNvPr id="12" name="TextBox 11">
            <a:extLst>
              <a:ext uri="{FF2B5EF4-FFF2-40B4-BE49-F238E27FC236}">
                <a16:creationId xmlns:a16="http://schemas.microsoft.com/office/drawing/2014/main" id="{C244B34E-B36C-A9B7-067E-6FB56A1C76E4}"/>
              </a:ext>
            </a:extLst>
          </p:cNvPr>
          <p:cNvSpPr txBox="1"/>
          <p:nvPr/>
        </p:nvSpPr>
        <p:spPr>
          <a:xfrm>
            <a:off x="382115" y="5489769"/>
            <a:ext cx="2616935" cy="646331"/>
          </a:xfrm>
          <a:prstGeom prst="rect">
            <a:avLst/>
          </a:prstGeom>
          <a:noFill/>
        </p:spPr>
        <p:txBody>
          <a:bodyPr wrap="none" rtlCol="0">
            <a:spAutoFit/>
          </a:bodyPr>
          <a:lstStyle/>
          <a:p>
            <a:r>
              <a:rPr lang="en-GB" dirty="0">
                <a:hlinkClick r:id="rId6"/>
              </a:rPr>
              <a:t>https://metalog.embl.de</a:t>
            </a:r>
            <a:endParaRPr lang="en-GB" dirty="0"/>
          </a:p>
          <a:p>
            <a:endParaRPr lang="en-EE" dirty="0"/>
          </a:p>
        </p:txBody>
      </p:sp>
      <p:sp>
        <p:nvSpPr>
          <p:cNvPr id="7" name="TextBox 6">
            <a:extLst>
              <a:ext uri="{FF2B5EF4-FFF2-40B4-BE49-F238E27FC236}">
                <a16:creationId xmlns:a16="http://schemas.microsoft.com/office/drawing/2014/main" id="{7B7A0D38-4C5F-EAB0-6641-D529BF5395C4}"/>
              </a:ext>
            </a:extLst>
          </p:cNvPr>
          <p:cNvSpPr txBox="1"/>
          <p:nvPr/>
        </p:nvSpPr>
        <p:spPr>
          <a:xfrm>
            <a:off x="833592" y="1675685"/>
            <a:ext cx="9884229" cy="3693319"/>
          </a:xfrm>
          <a:prstGeom prst="rect">
            <a:avLst/>
          </a:prstGeom>
          <a:noFill/>
        </p:spPr>
        <p:txBody>
          <a:bodyPr wrap="square" rtlCol="0">
            <a:spAutoFit/>
          </a:bodyPr>
          <a:lstStyle/>
          <a:p>
            <a:r>
              <a:rPr lang="en-GB" b="1" dirty="0"/>
              <a:t>Task 1. Exploratory analysis of the selected dataset</a:t>
            </a:r>
            <a:endParaRPr lang="en-GB" dirty="0"/>
          </a:p>
          <a:p>
            <a:endParaRPr lang="en-GB" dirty="0"/>
          </a:p>
          <a:p>
            <a:r>
              <a:rPr lang="en-GB" b="1" dirty="0">
                <a:solidFill>
                  <a:srgbClr val="9BB7E0"/>
                </a:solidFill>
              </a:rPr>
              <a:t>General. </a:t>
            </a:r>
            <a:r>
              <a:rPr lang="en-GB" dirty="0"/>
              <a:t>How many samples are included in the dataset? How many studies does the dataset contain? What are the minimum, maximum, and average numbers of samples per study?</a:t>
            </a:r>
          </a:p>
          <a:p>
            <a:endParaRPr lang="en-GB" dirty="0"/>
          </a:p>
          <a:p>
            <a:r>
              <a:rPr lang="en-GB" b="1" dirty="0">
                <a:solidFill>
                  <a:srgbClr val="9BB7E0"/>
                </a:solidFill>
              </a:rPr>
              <a:t>Dataset balance and bias &amp; missing data structure. </a:t>
            </a:r>
            <a:r>
              <a:rPr lang="en-GB" dirty="0"/>
              <a:t>Which metadata fields are available, and are they consistently present across all samples and studies? …</a:t>
            </a:r>
          </a:p>
          <a:p>
            <a:r>
              <a:rPr lang="en-GB" dirty="0"/>
              <a:t>Are any metadata variables strongly correlated or effectively duplicating the same information?</a:t>
            </a:r>
          </a:p>
          <a:p>
            <a:endParaRPr lang="en-GB" dirty="0"/>
          </a:p>
          <a:p>
            <a:r>
              <a:rPr lang="en-GB" b="1" dirty="0">
                <a:solidFill>
                  <a:srgbClr val="9BB7E0"/>
                </a:solidFill>
              </a:rPr>
              <a:t>Temporal coverage. </a:t>
            </a:r>
            <a:r>
              <a:rPr lang="en-GB" dirty="0"/>
              <a:t>Do we have studies with multiple time points for the same samples?</a:t>
            </a:r>
          </a:p>
          <a:p>
            <a:r>
              <a:rPr lang="en-GB" b="1" dirty="0">
                <a:solidFill>
                  <a:srgbClr val="9BB7E0"/>
                </a:solidFill>
              </a:rPr>
              <a:t>Technical heterogeneity. </a:t>
            </a:r>
            <a:r>
              <a:rPr lang="en-GB" dirty="0"/>
              <a:t>Assess whether sequencing platform, library preparation, or read length vary across studies.</a:t>
            </a:r>
          </a:p>
          <a:p>
            <a:r>
              <a:rPr lang="en-GB" b="1" dirty="0">
                <a:solidFill>
                  <a:srgbClr val="9BB7E0"/>
                </a:solidFill>
              </a:rPr>
              <a:t>Redundancy at the sample level. </a:t>
            </a:r>
            <a:r>
              <a:rPr lang="en-GB" dirty="0"/>
              <a:t>Assess whether the dataset contains duplicate samples.</a:t>
            </a:r>
          </a:p>
        </p:txBody>
      </p:sp>
    </p:spTree>
    <p:extLst>
      <p:ext uri="{BB962C8B-B14F-4D97-AF65-F5344CB8AC3E}">
        <p14:creationId xmlns:p14="http://schemas.microsoft.com/office/powerpoint/2010/main" val="31126006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F6898-F531-B701-07C9-832CB491AE56}"/>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35DD81B-C34B-B648-A9F2-729B5FD90D07}"/>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7B849332-CD33-8FF8-53C7-4615C9D50B81}"/>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F45D708D-B231-39FE-34A7-ED8719931D29}"/>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FC10D92C-E497-7483-52C7-DC0082E9F6F8}"/>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2E8D9993-739E-9413-1E43-2277D440E3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64D2E591-59FE-C2AF-127B-B97B9E6660C7}"/>
              </a:ext>
            </a:extLst>
          </p:cNvPr>
          <p:cNvSpPr>
            <a:spLocks noGrp="1"/>
          </p:cNvSpPr>
          <p:nvPr>
            <p:ph type="sldNum" sz="quarter" idx="12"/>
          </p:nvPr>
        </p:nvSpPr>
        <p:spPr/>
        <p:txBody>
          <a:bodyPr/>
          <a:lstStyle/>
          <a:p>
            <a:fld id="{1BBB1392-5497-6446-B7D9-F62D46761D9A}" type="slidenum">
              <a:rPr lang="en-EE" sz="1400" smtClean="0"/>
              <a:t>12</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9A208A66-0FBD-EDCB-0A76-DC3D60BDA15C}"/>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sp>
        <p:nvSpPr>
          <p:cNvPr id="12" name="TextBox 11">
            <a:extLst>
              <a:ext uri="{FF2B5EF4-FFF2-40B4-BE49-F238E27FC236}">
                <a16:creationId xmlns:a16="http://schemas.microsoft.com/office/drawing/2014/main" id="{4103D0F1-02E4-2931-DE49-D61D5BEAEEA2}"/>
              </a:ext>
            </a:extLst>
          </p:cNvPr>
          <p:cNvSpPr txBox="1"/>
          <p:nvPr/>
        </p:nvSpPr>
        <p:spPr>
          <a:xfrm>
            <a:off x="382115" y="5489769"/>
            <a:ext cx="2616935" cy="646331"/>
          </a:xfrm>
          <a:prstGeom prst="rect">
            <a:avLst/>
          </a:prstGeom>
          <a:noFill/>
        </p:spPr>
        <p:txBody>
          <a:bodyPr wrap="none" rtlCol="0">
            <a:spAutoFit/>
          </a:bodyPr>
          <a:lstStyle/>
          <a:p>
            <a:r>
              <a:rPr lang="en-GB" dirty="0">
                <a:hlinkClick r:id="rId6"/>
              </a:rPr>
              <a:t>https://metalog.embl.de</a:t>
            </a:r>
            <a:endParaRPr lang="en-GB" dirty="0"/>
          </a:p>
          <a:p>
            <a:endParaRPr lang="en-EE" dirty="0"/>
          </a:p>
        </p:txBody>
      </p:sp>
      <p:sp>
        <p:nvSpPr>
          <p:cNvPr id="7" name="TextBox 6">
            <a:extLst>
              <a:ext uri="{FF2B5EF4-FFF2-40B4-BE49-F238E27FC236}">
                <a16:creationId xmlns:a16="http://schemas.microsoft.com/office/drawing/2014/main" id="{CC7265BD-15FC-D828-28A8-5F9A9B43DE13}"/>
              </a:ext>
            </a:extLst>
          </p:cNvPr>
          <p:cNvSpPr txBox="1"/>
          <p:nvPr/>
        </p:nvSpPr>
        <p:spPr>
          <a:xfrm>
            <a:off x="833592" y="1675685"/>
            <a:ext cx="9884229" cy="923330"/>
          </a:xfrm>
          <a:prstGeom prst="rect">
            <a:avLst/>
          </a:prstGeom>
          <a:noFill/>
        </p:spPr>
        <p:txBody>
          <a:bodyPr wrap="square" rtlCol="0">
            <a:spAutoFit/>
          </a:bodyPr>
          <a:lstStyle/>
          <a:p>
            <a:r>
              <a:rPr lang="en-GB" b="1" dirty="0"/>
              <a:t>Task 2. Formulate a question that can be answered with the data</a:t>
            </a:r>
          </a:p>
          <a:p>
            <a:endParaRPr lang="en-GB" dirty="0"/>
          </a:p>
          <a:p>
            <a:r>
              <a:rPr lang="en-GB" dirty="0"/>
              <a:t>Please write your ideas in the chat …</a:t>
            </a:r>
          </a:p>
        </p:txBody>
      </p:sp>
      <p:pic>
        <p:nvPicPr>
          <p:cNvPr id="8" name="Graphic 7" descr="Chat bubble with solid fill">
            <a:extLst>
              <a:ext uri="{FF2B5EF4-FFF2-40B4-BE49-F238E27FC236}">
                <a16:creationId xmlns:a16="http://schemas.microsoft.com/office/drawing/2014/main" id="{5ABA4333-5FA7-1944-3CCA-6CD54B80ADE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378907" y="5014623"/>
            <a:ext cx="575951" cy="575951"/>
          </a:xfrm>
          <a:prstGeom prst="rect">
            <a:avLst/>
          </a:prstGeom>
        </p:spPr>
      </p:pic>
      <p:sp>
        <p:nvSpPr>
          <p:cNvPr id="3" name="TextBox 2">
            <a:extLst>
              <a:ext uri="{FF2B5EF4-FFF2-40B4-BE49-F238E27FC236}">
                <a16:creationId xmlns:a16="http://schemas.microsoft.com/office/drawing/2014/main" id="{F8457BAF-7FE6-A50C-558A-9839101B9E6C}"/>
              </a:ext>
            </a:extLst>
          </p:cNvPr>
          <p:cNvSpPr txBox="1"/>
          <p:nvPr/>
        </p:nvSpPr>
        <p:spPr>
          <a:xfrm>
            <a:off x="2629770" y="4024553"/>
            <a:ext cx="8232862" cy="861774"/>
          </a:xfrm>
          <a:prstGeom prst="rect">
            <a:avLst/>
          </a:prstGeom>
          <a:noFill/>
        </p:spPr>
        <p:txBody>
          <a:bodyPr wrap="square" rtlCol="0">
            <a:spAutoFit/>
          </a:bodyPr>
          <a:lstStyle/>
          <a:p>
            <a:r>
              <a:rPr lang="en-EE" sz="1600" i="1" dirty="0"/>
              <a:t>For each selected question, clearly specify the </a:t>
            </a:r>
            <a:r>
              <a:rPr lang="en-EE" sz="1600" b="1" i="1" dirty="0"/>
              <a:t>response variables</a:t>
            </a:r>
            <a:r>
              <a:rPr lang="en-EE" sz="1600" i="1" dirty="0"/>
              <a:t>, the explanatory </a:t>
            </a:r>
            <a:r>
              <a:rPr lang="en-EE" sz="1600" b="1" i="1" dirty="0"/>
              <a:t>variables of interest</a:t>
            </a:r>
            <a:r>
              <a:rPr lang="en-EE" sz="1600" i="1" dirty="0"/>
              <a:t>, and any </a:t>
            </a:r>
            <a:r>
              <a:rPr lang="en-EE" sz="1600" b="1" i="1" dirty="0"/>
              <a:t>covariates</a:t>
            </a:r>
            <a:r>
              <a:rPr lang="en-EE" sz="1600" i="1" dirty="0"/>
              <a:t> or confounders that need to be controlled for.</a:t>
            </a:r>
          </a:p>
          <a:p>
            <a:endParaRPr lang="en-EE" dirty="0"/>
          </a:p>
        </p:txBody>
      </p:sp>
    </p:spTree>
    <p:extLst>
      <p:ext uri="{BB962C8B-B14F-4D97-AF65-F5344CB8AC3E}">
        <p14:creationId xmlns:p14="http://schemas.microsoft.com/office/powerpoint/2010/main" val="20150318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ACD8D-5158-BA2B-95E6-DABBB3C71D4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1E1F88F-42A5-E90B-B5D7-6A65EC0AF8EE}"/>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D60888EF-1F1C-DF5C-A7ED-529FCD44C055}"/>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9727935E-525E-E6A7-9112-62CEAE232103}"/>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B6EE83A7-1537-0321-664F-FE0C766E8325}"/>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831A6A0F-4B29-E40A-0D9F-CCB7DFEEDC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7B683730-26E7-C1DC-1AE9-BE4EF5999BB5}"/>
              </a:ext>
            </a:extLst>
          </p:cNvPr>
          <p:cNvSpPr>
            <a:spLocks noGrp="1"/>
          </p:cNvSpPr>
          <p:nvPr>
            <p:ph type="sldNum" sz="quarter" idx="12"/>
          </p:nvPr>
        </p:nvSpPr>
        <p:spPr/>
        <p:txBody>
          <a:bodyPr/>
          <a:lstStyle/>
          <a:p>
            <a:fld id="{1BBB1392-5497-6446-B7D9-F62D46761D9A}" type="slidenum">
              <a:rPr lang="en-EE" sz="1400" smtClean="0"/>
              <a:t>13</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ACD62E8A-D1B9-4BBC-FDF3-A143A24C3996}"/>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sp>
        <p:nvSpPr>
          <p:cNvPr id="12" name="TextBox 11">
            <a:extLst>
              <a:ext uri="{FF2B5EF4-FFF2-40B4-BE49-F238E27FC236}">
                <a16:creationId xmlns:a16="http://schemas.microsoft.com/office/drawing/2014/main" id="{9F0A78B7-08C1-CCCE-4172-32CACC25FC0D}"/>
              </a:ext>
            </a:extLst>
          </p:cNvPr>
          <p:cNvSpPr txBox="1"/>
          <p:nvPr/>
        </p:nvSpPr>
        <p:spPr>
          <a:xfrm>
            <a:off x="382115" y="5489769"/>
            <a:ext cx="2616935" cy="646331"/>
          </a:xfrm>
          <a:prstGeom prst="rect">
            <a:avLst/>
          </a:prstGeom>
          <a:noFill/>
        </p:spPr>
        <p:txBody>
          <a:bodyPr wrap="none" rtlCol="0">
            <a:spAutoFit/>
          </a:bodyPr>
          <a:lstStyle/>
          <a:p>
            <a:r>
              <a:rPr lang="en-GB" dirty="0">
                <a:hlinkClick r:id="rId6"/>
              </a:rPr>
              <a:t>https://metalog.embl.de</a:t>
            </a:r>
            <a:endParaRPr lang="en-GB" dirty="0"/>
          </a:p>
          <a:p>
            <a:endParaRPr lang="en-EE" dirty="0"/>
          </a:p>
        </p:txBody>
      </p:sp>
      <p:sp>
        <p:nvSpPr>
          <p:cNvPr id="7" name="TextBox 6">
            <a:extLst>
              <a:ext uri="{FF2B5EF4-FFF2-40B4-BE49-F238E27FC236}">
                <a16:creationId xmlns:a16="http://schemas.microsoft.com/office/drawing/2014/main" id="{249967E8-55D3-32DF-A8B8-18CA4B7D5A36}"/>
              </a:ext>
            </a:extLst>
          </p:cNvPr>
          <p:cNvSpPr txBox="1"/>
          <p:nvPr/>
        </p:nvSpPr>
        <p:spPr>
          <a:xfrm>
            <a:off x="833592" y="1675685"/>
            <a:ext cx="9884229" cy="369332"/>
          </a:xfrm>
          <a:prstGeom prst="rect">
            <a:avLst/>
          </a:prstGeom>
          <a:noFill/>
        </p:spPr>
        <p:txBody>
          <a:bodyPr wrap="square" rtlCol="0">
            <a:spAutoFit/>
          </a:bodyPr>
          <a:lstStyle/>
          <a:p>
            <a:r>
              <a:rPr lang="en-GB" b="1" dirty="0"/>
              <a:t>Task 2. Formulate a question that can be answered with the data</a:t>
            </a:r>
          </a:p>
        </p:txBody>
      </p:sp>
      <p:sp>
        <p:nvSpPr>
          <p:cNvPr id="10" name="Rectangle 2">
            <a:extLst>
              <a:ext uri="{FF2B5EF4-FFF2-40B4-BE49-F238E27FC236}">
                <a16:creationId xmlns:a16="http://schemas.microsoft.com/office/drawing/2014/main" id="{1A089F29-09CF-23DD-2322-AC887B5CC34F}"/>
              </a:ext>
            </a:extLst>
          </p:cNvPr>
          <p:cNvSpPr>
            <a:spLocks noChangeArrowheads="1"/>
          </p:cNvSpPr>
          <p:nvPr/>
        </p:nvSpPr>
        <p:spPr bwMode="auto">
          <a:xfrm>
            <a:off x="1203706" y="2484648"/>
            <a:ext cx="9514115"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eaLnBrk="0" fontAlgn="base" hangingPunct="0">
              <a:spcBef>
                <a:spcPct val="0"/>
              </a:spcBef>
              <a:spcAft>
                <a:spcPts val="1200"/>
              </a:spcAft>
              <a:buFont typeface="+mj-lt"/>
              <a:buAutoNum type="arabicPeriod"/>
            </a:pPr>
            <a:r>
              <a:rPr kumimoji="0" lang="en-EE" altLang="en-EE" sz="1600" b="0" i="0" u="none" strike="noStrike" cap="none" normalizeH="0" baseline="0" dirty="0">
                <a:ln>
                  <a:noFill/>
                </a:ln>
                <a:solidFill>
                  <a:srgbClr val="000000"/>
                </a:solidFill>
                <a:effectLst/>
              </a:rPr>
              <a:t>Does microbiome community composition differ between sampling</a:t>
            </a:r>
            <a:r>
              <a:rPr kumimoji="0" lang="en-EE" altLang="en-EE" sz="1600" i="0" u="none" strike="noStrike" cap="none" normalizeH="0" baseline="0" dirty="0">
                <a:ln>
                  <a:noFill/>
                </a:ln>
                <a:solidFill>
                  <a:srgbClr val="000000"/>
                </a:solidFill>
                <a:effectLst/>
              </a:rPr>
              <a:t> locations,</a:t>
            </a:r>
            <a:r>
              <a:rPr kumimoji="0" lang="en-EE" altLang="en-EE" sz="1600" b="0" i="0" u="none" strike="noStrike" cap="none" normalizeH="0" baseline="0" dirty="0">
                <a:ln>
                  <a:noFill/>
                </a:ln>
                <a:solidFill>
                  <a:srgbClr val="000000"/>
                </a:solidFill>
                <a:effectLst/>
              </a:rPr>
              <a:t> different geographic regions, </a:t>
            </a:r>
            <a:r>
              <a:rPr lang="en-GB" altLang="en-EE" sz="1600" dirty="0">
                <a:solidFill>
                  <a:srgbClr val="000000"/>
                </a:solidFill>
              </a:rPr>
              <a:t>different</a:t>
            </a:r>
            <a:r>
              <a:rPr kumimoji="0" lang="en-EE" altLang="en-EE" sz="1600" b="0" i="0" u="none" strike="noStrike" cap="none" normalizeH="0" baseline="0" dirty="0">
                <a:ln>
                  <a:noFill/>
                </a:ln>
                <a:solidFill>
                  <a:srgbClr val="000000"/>
                </a:solidFill>
                <a:effectLst/>
              </a:rPr>
              <a:t> body sites?</a:t>
            </a:r>
          </a:p>
          <a:p>
            <a:pPr marL="342900" marR="0" lvl="0" indent="-342900" algn="l" defTabSz="914400" rtl="0" eaLnBrk="0" fontAlgn="base" latinLnBrk="0" hangingPunct="0">
              <a:lnSpc>
                <a:spcPct val="100000"/>
              </a:lnSpc>
              <a:spcBef>
                <a:spcPct val="0"/>
              </a:spcBef>
              <a:spcAft>
                <a:spcPts val="1200"/>
              </a:spcAft>
              <a:buClrTx/>
              <a:buSzTx/>
              <a:buFont typeface="+mj-lt"/>
              <a:buAutoNum type="arabicPeriod"/>
              <a:tabLst/>
            </a:pPr>
            <a:r>
              <a:rPr kumimoji="0" lang="en-EE" altLang="en-EE" sz="1600" b="0" i="0" u="none" strike="noStrike" cap="none" normalizeH="0" baseline="0" dirty="0">
                <a:ln>
                  <a:noFill/>
                </a:ln>
                <a:solidFill>
                  <a:srgbClr val="000000"/>
                </a:solidFill>
                <a:effectLst/>
              </a:rPr>
              <a:t>Is there a relationship between environmental conditions such as temperature, salinity, or oxygen concentration and the observed microbiome structure?</a:t>
            </a:r>
          </a:p>
          <a:p>
            <a:pPr marL="342900" marR="0" lvl="0" indent="-342900" algn="l" defTabSz="914400" rtl="0" eaLnBrk="0" fontAlgn="base" latinLnBrk="0" hangingPunct="0">
              <a:lnSpc>
                <a:spcPct val="100000"/>
              </a:lnSpc>
              <a:spcBef>
                <a:spcPct val="0"/>
              </a:spcBef>
              <a:spcAft>
                <a:spcPts val="1200"/>
              </a:spcAft>
              <a:buClrTx/>
              <a:buSzTx/>
              <a:buFont typeface="+mj-lt"/>
              <a:buAutoNum type="arabicPeriod"/>
              <a:tabLst/>
            </a:pPr>
            <a:r>
              <a:rPr kumimoji="0" lang="en-EE" altLang="en-EE" sz="1600" b="0" i="0" u="none" strike="noStrike" cap="none" normalizeH="0" baseline="0" dirty="0">
                <a:ln>
                  <a:noFill/>
                </a:ln>
                <a:solidFill>
                  <a:srgbClr val="000000"/>
                </a:solidFill>
                <a:effectLst/>
              </a:rPr>
              <a:t>Do samples collected in different seasons or months show systematic differences, suggesting temporal or seasonal effects on the microbiome?</a:t>
            </a:r>
          </a:p>
          <a:p>
            <a:pPr marL="342900" lvl="0" indent="-342900" eaLnBrk="0" fontAlgn="base" hangingPunct="0">
              <a:spcBef>
                <a:spcPct val="0"/>
              </a:spcBef>
              <a:spcAft>
                <a:spcPts val="1200"/>
              </a:spcAft>
              <a:buFont typeface="+mj-lt"/>
              <a:buAutoNum type="arabicPeriod"/>
            </a:pPr>
            <a:r>
              <a:rPr lang="en-EE" altLang="en-EE" sz="1600" dirty="0">
                <a:solidFill>
                  <a:srgbClr val="000000"/>
                </a:solidFill>
              </a:rPr>
              <a:t>Does microbiome community composition differ between sampling protocols?</a:t>
            </a:r>
            <a:endParaRPr kumimoji="0" lang="en-EE" altLang="en-EE" sz="16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924095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B88A6-37BF-59C5-72E6-01498CECDF3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163ADAB-9CA8-AC07-D482-CFF4812F2AA8}"/>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B2128622-CB09-79BB-CDD6-6FF02544729B}"/>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24A94CE8-EDD7-839D-AED0-F8FEFC67B2C9}"/>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0BFEB6E7-856F-1057-D1E6-0398034D4CF1}"/>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5711AD18-DD7E-5DDA-0B9A-D41CD66390D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6D5EF922-CA81-56AB-8A04-F4701E498301}"/>
              </a:ext>
            </a:extLst>
          </p:cNvPr>
          <p:cNvSpPr>
            <a:spLocks noGrp="1"/>
          </p:cNvSpPr>
          <p:nvPr>
            <p:ph type="sldNum" sz="quarter" idx="12"/>
          </p:nvPr>
        </p:nvSpPr>
        <p:spPr/>
        <p:txBody>
          <a:bodyPr/>
          <a:lstStyle/>
          <a:p>
            <a:fld id="{1BBB1392-5497-6446-B7D9-F62D46761D9A}" type="slidenum">
              <a:rPr lang="en-EE" sz="1400" smtClean="0"/>
              <a:t>14</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DBBA5BF1-AF84-3B63-79CB-174133F7905E}"/>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sp>
        <p:nvSpPr>
          <p:cNvPr id="12" name="TextBox 11">
            <a:extLst>
              <a:ext uri="{FF2B5EF4-FFF2-40B4-BE49-F238E27FC236}">
                <a16:creationId xmlns:a16="http://schemas.microsoft.com/office/drawing/2014/main" id="{57CA6FF3-2102-B294-1605-306DBCB50C8D}"/>
              </a:ext>
            </a:extLst>
          </p:cNvPr>
          <p:cNvSpPr txBox="1"/>
          <p:nvPr/>
        </p:nvSpPr>
        <p:spPr>
          <a:xfrm>
            <a:off x="382115" y="5489769"/>
            <a:ext cx="2616935" cy="646331"/>
          </a:xfrm>
          <a:prstGeom prst="rect">
            <a:avLst/>
          </a:prstGeom>
          <a:noFill/>
        </p:spPr>
        <p:txBody>
          <a:bodyPr wrap="none" rtlCol="0">
            <a:spAutoFit/>
          </a:bodyPr>
          <a:lstStyle/>
          <a:p>
            <a:r>
              <a:rPr lang="en-GB" dirty="0">
                <a:hlinkClick r:id="rId6"/>
              </a:rPr>
              <a:t>https://metalog.embl.de</a:t>
            </a:r>
            <a:endParaRPr lang="en-GB" dirty="0"/>
          </a:p>
          <a:p>
            <a:endParaRPr lang="en-EE" dirty="0"/>
          </a:p>
        </p:txBody>
      </p:sp>
      <p:sp>
        <p:nvSpPr>
          <p:cNvPr id="24" name="Rectangle 3">
            <a:extLst>
              <a:ext uri="{FF2B5EF4-FFF2-40B4-BE49-F238E27FC236}">
                <a16:creationId xmlns:a16="http://schemas.microsoft.com/office/drawing/2014/main" id="{79AE513A-B752-1282-CD6B-6DEB301A48F4}"/>
              </a:ext>
            </a:extLst>
          </p:cNvPr>
          <p:cNvSpPr>
            <a:spLocks noChangeArrowheads="1"/>
          </p:cNvSpPr>
          <p:nvPr/>
        </p:nvSpPr>
        <p:spPr bwMode="auto">
          <a:xfrm>
            <a:off x="1439948" y="2009507"/>
            <a:ext cx="85344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EE" altLang="en-EE" sz="1800" b="1" i="0" u="none" strike="noStrike" cap="none" normalizeH="0" baseline="0" dirty="0">
                <a:ln>
                  <a:noFill/>
                </a:ln>
                <a:solidFill>
                  <a:srgbClr val="000000"/>
                </a:solidFill>
                <a:effectLst/>
              </a:rPr>
              <a:t>Task 3. Select a subset of data for your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EE" altLang="en-EE" sz="1800" b="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EE" altLang="en-EE" sz="1800" b="0" i="0" u="none" strike="noStrike" cap="none" normalizeH="0" baseline="0" dirty="0">
                <a:ln>
                  <a:noFill/>
                </a:ln>
                <a:solidFill>
                  <a:srgbClr val="000000"/>
                </a:solidFill>
                <a:effectLst/>
              </a:rPr>
              <a:t>Select one study or a small set of studies that contain the metadata required to answer your question.</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EE" altLang="en-EE" sz="1800" b="0" i="0" u="none" strike="noStrike" cap="none" normalizeH="0" baseline="0" dirty="0">
                <a:ln>
                  <a:noFill/>
                </a:ln>
                <a:solidFill>
                  <a:srgbClr val="000000"/>
                </a:solidFill>
                <a:effectLst/>
              </a:rPr>
              <a:t>Aim for a balanced dataset to avoid confounding signals. For example, if you include multiple studies, they should have comparable structure (such as age, gender distribution, or other relevant variables).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EE" altLang="en-EE" sz="1800" b="0" i="0" u="none" strike="noStrike" cap="none" normalizeH="0" baseline="0" dirty="0">
                <a:ln>
                  <a:noFill/>
                </a:ln>
                <a:solidFill>
                  <a:srgbClr val="000000"/>
                </a:solidFill>
                <a:effectLst/>
              </a:rPr>
              <a:t>Define case and control groups. Verify that these groups have similar structures, or construct matched case–control pairs where appropriate.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EE" altLang="en-EE"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219408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7BDBE-4029-F659-6442-D4C46E3A29CE}"/>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E27AA731-45DA-A6D9-466F-A7C519015CA9}"/>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D36112ED-EA1D-246C-8A37-EE8376085C79}"/>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F6FC3734-AE33-30E9-804F-3FEA953D9B6C}"/>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946F0527-4447-D633-33B3-D24082CB55DA}"/>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C1491774-A16B-E0CF-EA31-1FB600DF672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3309C6A6-0B78-1BB9-1F72-30E24D5AE65D}"/>
              </a:ext>
            </a:extLst>
          </p:cNvPr>
          <p:cNvSpPr>
            <a:spLocks noGrp="1"/>
          </p:cNvSpPr>
          <p:nvPr>
            <p:ph type="sldNum" sz="quarter" idx="12"/>
          </p:nvPr>
        </p:nvSpPr>
        <p:spPr/>
        <p:txBody>
          <a:bodyPr/>
          <a:lstStyle/>
          <a:p>
            <a:fld id="{1BBB1392-5497-6446-B7D9-F62D46761D9A}" type="slidenum">
              <a:rPr lang="en-EE" sz="1400" smtClean="0"/>
              <a:t>15</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9EC89F28-0E66-3349-ED47-32C3B5ED0C4C}"/>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sp>
        <p:nvSpPr>
          <p:cNvPr id="12" name="TextBox 11">
            <a:extLst>
              <a:ext uri="{FF2B5EF4-FFF2-40B4-BE49-F238E27FC236}">
                <a16:creationId xmlns:a16="http://schemas.microsoft.com/office/drawing/2014/main" id="{81013AA6-ECA0-5743-5BC4-34BD24B5999B}"/>
              </a:ext>
            </a:extLst>
          </p:cNvPr>
          <p:cNvSpPr txBox="1"/>
          <p:nvPr/>
        </p:nvSpPr>
        <p:spPr>
          <a:xfrm>
            <a:off x="382115" y="5489769"/>
            <a:ext cx="2616935" cy="646331"/>
          </a:xfrm>
          <a:prstGeom prst="rect">
            <a:avLst/>
          </a:prstGeom>
          <a:noFill/>
        </p:spPr>
        <p:txBody>
          <a:bodyPr wrap="none" rtlCol="0">
            <a:spAutoFit/>
          </a:bodyPr>
          <a:lstStyle/>
          <a:p>
            <a:r>
              <a:rPr lang="en-GB" dirty="0">
                <a:hlinkClick r:id="rId6"/>
              </a:rPr>
              <a:t>https://metalog.embl.de</a:t>
            </a:r>
            <a:endParaRPr lang="en-GB" dirty="0"/>
          </a:p>
          <a:p>
            <a:endParaRPr lang="en-EE" dirty="0"/>
          </a:p>
        </p:txBody>
      </p:sp>
      <p:sp>
        <p:nvSpPr>
          <p:cNvPr id="24" name="Rectangle 3">
            <a:extLst>
              <a:ext uri="{FF2B5EF4-FFF2-40B4-BE49-F238E27FC236}">
                <a16:creationId xmlns:a16="http://schemas.microsoft.com/office/drawing/2014/main" id="{10ADDCB2-FA75-8A54-7C4B-A5B44AB68BFE}"/>
              </a:ext>
            </a:extLst>
          </p:cNvPr>
          <p:cNvSpPr>
            <a:spLocks noChangeArrowheads="1"/>
          </p:cNvSpPr>
          <p:nvPr/>
        </p:nvSpPr>
        <p:spPr bwMode="auto">
          <a:xfrm>
            <a:off x="1439948" y="2409617"/>
            <a:ext cx="8534400"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GB" b="1" dirty="0"/>
              <a:t>Task 4. Answer your question</a:t>
            </a:r>
          </a:p>
          <a:p>
            <a:endParaRPr lang="en-GB" dirty="0"/>
          </a:p>
          <a:p>
            <a:pPr marL="342900" indent="-342900">
              <a:spcAft>
                <a:spcPts val="1200"/>
              </a:spcAft>
              <a:buFont typeface="+mj-lt"/>
              <a:buAutoNum type="arabicPeriod"/>
            </a:pPr>
            <a:r>
              <a:rPr lang="en-GB" dirty="0"/>
              <a:t>Compare samples from the case and control groups.</a:t>
            </a:r>
          </a:p>
          <a:p>
            <a:pPr marL="342900" indent="-342900">
              <a:spcAft>
                <a:spcPts val="1200"/>
              </a:spcAft>
              <a:buFont typeface="+mj-lt"/>
              <a:buAutoNum type="arabicPeriod"/>
            </a:pPr>
            <a:r>
              <a:rPr lang="en-GB" dirty="0"/>
              <a:t>Analyse and compare alpha-diversity distributions between the groups.</a:t>
            </a:r>
          </a:p>
          <a:p>
            <a:pPr marL="342900" indent="-342900">
              <a:spcAft>
                <a:spcPts val="1200"/>
              </a:spcAft>
              <a:buFont typeface="+mj-lt"/>
              <a:buAutoNum type="arabicPeriod"/>
            </a:pPr>
            <a:r>
              <a:rPr lang="en-GB" dirty="0"/>
              <a:t>Calculate beta diversity and perform a PCA to determine whether the groups differ.</a:t>
            </a:r>
          </a:p>
        </p:txBody>
      </p:sp>
    </p:spTree>
    <p:extLst>
      <p:ext uri="{BB962C8B-B14F-4D97-AF65-F5344CB8AC3E}">
        <p14:creationId xmlns:p14="http://schemas.microsoft.com/office/powerpoint/2010/main" val="1689655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C6E03-0E48-815F-70E5-004C007BE3A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B2F214F3-D7E6-AB5A-21BF-E77BADFA6BE9}"/>
              </a:ext>
            </a:extLst>
          </p:cNvPr>
          <p:cNvSpPr/>
          <p:nvPr/>
        </p:nvSpPr>
        <p:spPr>
          <a:xfrm>
            <a:off x="0" y="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2" name="Title 1">
            <a:extLst>
              <a:ext uri="{FF2B5EF4-FFF2-40B4-BE49-F238E27FC236}">
                <a16:creationId xmlns:a16="http://schemas.microsoft.com/office/drawing/2014/main" id="{6403F85B-52E8-BB3F-F513-5D898887F502}"/>
              </a:ext>
            </a:extLst>
          </p:cNvPr>
          <p:cNvSpPr>
            <a:spLocks noGrp="1"/>
          </p:cNvSpPr>
          <p:nvPr>
            <p:ph type="title"/>
          </p:nvPr>
        </p:nvSpPr>
        <p:spPr>
          <a:xfrm>
            <a:off x="1439948" y="598225"/>
            <a:ext cx="8671519" cy="609938"/>
          </a:xfrm>
        </p:spPr>
        <p:txBody>
          <a:bodyPr>
            <a:noAutofit/>
          </a:bodyPr>
          <a:lstStyle/>
          <a:p>
            <a:r>
              <a:rPr lang="en-GB" sz="4800" b="1" dirty="0">
                <a:solidFill>
                  <a:srgbClr val="BED035"/>
                </a:solidFill>
                <a:latin typeface="Biome" panose="020B0503030204020804" pitchFamily="34" charset="0"/>
                <a:cs typeface="Biome" panose="020B0503030204020804" pitchFamily="34" charset="0"/>
              </a:rPr>
              <a:t>Metalog. Open-source data</a:t>
            </a:r>
            <a:endParaRPr lang="en-EE" dirty="0">
              <a:solidFill>
                <a:srgbClr val="98B7E5"/>
              </a:solidFill>
              <a:latin typeface="Biome" panose="020B0503030204020804" pitchFamily="34" charset="0"/>
              <a:cs typeface="Biome" panose="020B0503030204020804" pitchFamily="34" charset="0"/>
            </a:endParaRPr>
          </a:p>
        </p:txBody>
      </p:sp>
      <p:sp>
        <p:nvSpPr>
          <p:cNvPr id="5" name="Rectangle 4">
            <a:extLst>
              <a:ext uri="{FF2B5EF4-FFF2-40B4-BE49-F238E27FC236}">
                <a16:creationId xmlns:a16="http://schemas.microsoft.com/office/drawing/2014/main" id="{CD01B55C-89DD-5A36-32CD-34D464AA03F5}"/>
              </a:ext>
            </a:extLst>
          </p:cNvPr>
          <p:cNvSpPr/>
          <p:nvPr/>
        </p:nvSpPr>
        <p:spPr>
          <a:xfrm>
            <a:off x="0" y="6324600"/>
            <a:ext cx="12192000" cy="533400"/>
          </a:xfrm>
          <a:prstGeom prst="rect">
            <a:avLst/>
          </a:prstGeom>
          <a:solidFill>
            <a:srgbClr val="9BB7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EE"/>
          </a:p>
        </p:txBody>
      </p:sp>
      <p:sp>
        <p:nvSpPr>
          <p:cNvPr id="9" name="TextBox 8">
            <a:extLst>
              <a:ext uri="{FF2B5EF4-FFF2-40B4-BE49-F238E27FC236}">
                <a16:creationId xmlns:a16="http://schemas.microsoft.com/office/drawing/2014/main" id="{9E2E5EFF-3F59-6367-8D45-343712611C1F}"/>
              </a:ext>
            </a:extLst>
          </p:cNvPr>
          <p:cNvSpPr txBox="1"/>
          <p:nvPr/>
        </p:nvSpPr>
        <p:spPr>
          <a:xfrm>
            <a:off x="88900" y="6329690"/>
            <a:ext cx="1858201" cy="461665"/>
          </a:xfrm>
          <a:prstGeom prst="rect">
            <a:avLst/>
          </a:prstGeom>
          <a:noFill/>
        </p:spPr>
        <p:txBody>
          <a:bodyPr wrap="none" rtlCol="0">
            <a:spAutoFit/>
          </a:bodyPr>
          <a:lstStyle/>
          <a:p>
            <a:r>
              <a:rPr lang="en-GB" sz="1200" dirty="0">
                <a:solidFill>
                  <a:srgbClr val="D5F61F"/>
                </a:solidFill>
                <a:latin typeface="Andale Mono" panose="020B0509000000000004" pitchFamily="49" charset="0"/>
              </a:rPr>
              <a:t>bi534-metagenomics</a:t>
            </a:r>
          </a:p>
          <a:p>
            <a:r>
              <a:rPr lang="en-GB" sz="1200" dirty="0">
                <a:solidFill>
                  <a:srgbClr val="D5F61F"/>
                </a:solidFill>
                <a:latin typeface="Andale Mono" panose="020B0509000000000004" pitchFamily="49" charset="0"/>
              </a:rPr>
              <a:t>Code 01</a:t>
            </a:r>
            <a:endParaRPr lang="en-EE" sz="1200" dirty="0">
              <a:solidFill>
                <a:srgbClr val="D5F61F"/>
              </a:solidFill>
              <a:latin typeface="Andale Mono" panose="020B0509000000000004" pitchFamily="49" charset="0"/>
            </a:endParaRPr>
          </a:p>
        </p:txBody>
      </p:sp>
      <p:pic>
        <p:nvPicPr>
          <p:cNvPr id="11" name="Graphic 10">
            <a:extLst>
              <a:ext uri="{FF2B5EF4-FFF2-40B4-BE49-F238E27FC236}">
                <a16:creationId xmlns:a16="http://schemas.microsoft.com/office/drawing/2014/main" id="{36AE5C3E-7FF9-B25C-3B60-D9E8F76224B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378907" y="6068372"/>
            <a:ext cx="653104" cy="653104"/>
          </a:xfrm>
          <a:prstGeom prst="rect">
            <a:avLst/>
          </a:prstGeom>
        </p:spPr>
      </p:pic>
      <p:sp>
        <p:nvSpPr>
          <p:cNvPr id="13" name="Slide Number Placeholder 12">
            <a:extLst>
              <a:ext uri="{FF2B5EF4-FFF2-40B4-BE49-F238E27FC236}">
                <a16:creationId xmlns:a16="http://schemas.microsoft.com/office/drawing/2014/main" id="{1FFF71CC-76D3-8BE4-9B06-59F897A52FC3}"/>
              </a:ext>
            </a:extLst>
          </p:cNvPr>
          <p:cNvSpPr>
            <a:spLocks noGrp="1"/>
          </p:cNvSpPr>
          <p:nvPr>
            <p:ph type="sldNum" sz="quarter" idx="12"/>
          </p:nvPr>
        </p:nvSpPr>
        <p:spPr/>
        <p:txBody>
          <a:bodyPr/>
          <a:lstStyle/>
          <a:p>
            <a:fld id="{1BBB1392-5497-6446-B7D9-F62D46761D9A}" type="slidenum">
              <a:rPr lang="en-EE" sz="1400" smtClean="0"/>
              <a:t>16</a:t>
            </a:fld>
            <a:endParaRPr lang="en-EE" sz="1400" dirty="0"/>
          </a:p>
        </p:txBody>
      </p:sp>
      <p:pic>
        <p:nvPicPr>
          <p:cNvPr id="4" name="Picture 3" descr="A cartoon of a green monster with sunglasses&#10;&#10;AI-generated content may be incorrect.">
            <a:extLst>
              <a:ext uri="{FF2B5EF4-FFF2-40B4-BE49-F238E27FC236}">
                <a16:creationId xmlns:a16="http://schemas.microsoft.com/office/drawing/2014/main" id="{43077A64-EE37-CBE2-8A68-CB89B7BA7435}"/>
              </a:ext>
            </a:extLst>
          </p:cNvPr>
          <p:cNvPicPr>
            <a:picLocks noChangeAspect="1"/>
          </p:cNvPicPr>
          <p:nvPr/>
        </p:nvPicPr>
        <p:blipFill>
          <a:blip r:embed="rId5"/>
          <a:srcRect l="4948" t="2905" r="4550" b="1686"/>
          <a:stretch>
            <a:fillRect/>
          </a:stretch>
        </p:blipFill>
        <p:spPr>
          <a:xfrm>
            <a:off x="186239" y="138380"/>
            <a:ext cx="1253710" cy="1258283"/>
          </a:xfrm>
          <a:prstGeom prst="rect">
            <a:avLst/>
          </a:prstGeom>
        </p:spPr>
      </p:pic>
      <p:sp>
        <p:nvSpPr>
          <p:cNvPr id="12" name="TextBox 11">
            <a:extLst>
              <a:ext uri="{FF2B5EF4-FFF2-40B4-BE49-F238E27FC236}">
                <a16:creationId xmlns:a16="http://schemas.microsoft.com/office/drawing/2014/main" id="{D74D1C63-C572-7298-4DDC-326AA42D41CC}"/>
              </a:ext>
            </a:extLst>
          </p:cNvPr>
          <p:cNvSpPr txBox="1"/>
          <p:nvPr/>
        </p:nvSpPr>
        <p:spPr>
          <a:xfrm>
            <a:off x="5447791" y="2097752"/>
            <a:ext cx="2616935" cy="369332"/>
          </a:xfrm>
          <a:prstGeom prst="rect">
            <a:avLst/>
          </a:prstGeom>
          <a:noFill/>
        </p:spPr>
        <p:txBody>
          <a:bodyPr wrap="none" rtlCol="0">
            <a:spAutoFit/>
          </a:bodyPr>
          <a:lstStyle/>
          <a:p>
            <a:r>
              <a:rPr lang="en-GB" dirty="0">
                <a:hlinkClick r:id="rId6"/>
              </a:rPr>
              <a:t>https://metalog.embl.de</a:t>
            </a:r>
            <a:endParaRPr lang="en-GB" dirty="0"/>
          </a:p>
        </p:txBody>
      </p:sp>
      <p:sp>
        <p:nvSpPr>
          <p:cNvPr id="3" name="Rounded Rectangle 2">
            <a:extLst>
              <a:ext uri="{FF2B5EF4-FFF2-40B4-BE49-F238E27FC236}">
                <a16:creationId xmlns:a16="http://schemas.microsoft.com/office/drawing/2014/main" id="{20D06658-F3AD-B619-2B56-EBED6F489FB1}"/>
              </a:ext>
            </a:extLst>
          </p:cNvPr>
          <p:cNvSpPr/>
          <p:nvPr/>
        </p:nvSpPr>
        <p:spPr>
          <a:xfrm>
            <a:off x="858530" y="1787380"/>
            <a:ext cx="3564235" cy="8055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D5F61F"/>
                </a:solidFill>
              </a:rPr>
              <a:t>Task 1. </a:t>
            </a:r>
            <a:r>
              <a:rPr lang="en-GB" dirty="0">
                <a:solidFill>
                  <a:srgbClr val="D5F61F"/>
                </a:solidFill>
              </a:rPr>
              <a:t>Exploratory analysis of the selected dataset</a:t>
            </a:r>
          </a:p>
        </p:txBody>
      </p:sp>
      <p:sp>
        <p:nvSpPr>
          <p:cNvPr id="7" name="Rounded Rectangle 6">
            <a:extLst>
              <a:ext uri="{FF2B5EF4-FFF2-40B4-BE49-F238E27FC236}">
                <a16:creationId xmlns:a16="http://schemas.microsoft.com/office/drawing/2014/main" id="{960C7F7F-9205-B83E-A1B4-1C693AEEEF8F}"/>
              </a:ext>
            </a:extLst>
          </p:cNvPr>
          <p:cNvSpPr/>
          <p:nvPr/>
        </p:nvSpPr>
        <p:spPr>
          <a:xfrm>
            <a:off x="858530" y="2870922"/>
            <a:ext cx="3564235" cy="8055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D5F61F"/>
                </a:solidFill>
              </a:rPr>
              <a:t>Task 2. </a:t>
            </a:r>
            <a:r>
              <a:rPr lang="en-GB" dirty="0">
                <a:solidFill>
                  <a:srgbClr val="D5F61F"/>
                </a:solidFill>
              </a:rPr>
              <a:t>Formulate a question that can be answered with the data</a:t>
            </a:r>
          </a:p>
        </p:txBody>
      </p:sp>
      <p:sp>
        <p:nvSpPr>
          <p:cNvPr id="8" name="Rounded Rectangle 7">
            <a:extLst>
              <a:ext uri="{FF2B5EF4-FFF2-40B4-BE49-F238E27FC236}">
                <a16:creationId xmlns:a16="http://schemas.microsoft.com/office/drawing/2014/main" id="{D44FD47F-F7D9-7D93-C421-F16D037F9414}"/>
              </a:ext>
            </a:extLst>
          </p:cNvPr>
          <p:cNvSpPr/>
          <p:nvPr/>
        </p:nvSpPr>
        <p:spPr>
          <a:xfrm>
            <a:off x="858530" y="3971433"/>
            <a:ext cx="3564235" cy="80554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eaLnBrk="0" fontAlgn="base" hangingPunct="0">
              <a:spcBef>
                <a:spcPct val="0"/>
              </a:spcBef>
              <a:spcAft>
                <a:spcPct val="0"/>
              </a:spcAft>
            </a:pPr>
            <a:r>
              <a:rPr lang="en-EE" altLang="en-EE" b="1" dirty="0">
                <a:solidFill>
                  <a:srgbClr val="D5F61F"/>
                </a:solidFill>
              </a:rPr>
              <a:t>Task 3. </a:t>
            </a:r>
            <a:r>
              <a:rPr lang="en-EE" altLang="en-EE" dirty="0">
                <a:solidFill>
                  <a:srgbClr val="D5F61F"/>
                </a:solidFill>
              </a:rPr>
              <a:t>Select a subset of data for your analysis</a:t>
            </a:r>
          </a:p>
        </p:txBody>
      </p:sp>
      <p:sp>
        <p:nvSpPr>
          <p:cNvPr id="10" name="Rounded Rectangle 9">
            <a:extLst>
              <a:ext uri="{FF2B5EF4-FFF2-40B4-BE49-F238E27FC236}">
                <a16:creationId xmlns:a16="http://schemas.microsoft.com/office/drawing/2014/main" id="{62609A83-F915-D567-CB49-1AF8474DFD10}"/>
              </a:ext>
            </a:extLst>
          </p:cNvPr>
          <p:cNvSpPr/>
          <p:nvPr/>
        </p:nvSpPr>
        <p:spPr>
          <a:xfrm>
            <a:off x="858530" y="5054976"/>
            <a:ext cx="3564235" cy="40636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b="1" dirty="0">
                <a:solidFill>
                  <a:srgbClr val="D5F61F"/>
                </a:solidFill>
              </a:rPr>
              <a:t>Task 4. </a:t>
            </a:r>
            <a:r>
              <a:rPr lang="en-GB" dirty="0">
                <a:solidFill>
                  <a:srgbClr val="D5F61F"/>
                </a:solidFill>
              </a:rPr>
              <a:t>Answer your question</a:t>
            </a:r>
          </a:p>
        </p:txBody>
      </p:sp>
      <p:sp>
        <p:nvSpPr>
          <p:cNvPr id="14" name="TextBox 13">
            <a:extLst>
              <a:ext uri="{FF2B5EF4-FFF2-40B4-BE49-F238E27FC236}">
                <a16:creationId xmlns:a16="http://schemas.microsoft.com/office/drawing/2014/main" id="{1699E764-1FDF-F911-B443-4701F3EF42ED}"/>
              </a:ext>
            </a:extLst>
          </p:cNvPr>
          <p:cNvSpPr txBox="1"/>
          <p:nvPr/>
        </p:nvSpPr>
        <p:spPr>
          <a:xfrm>
            <a:off x="5447791" y="1748976"/>
            <a:ext cx="1037463" cy="369332"/>
          </a:xfrm>
          <a:prstGeom prst="rect">
            <a:avLst/>
          </a:prstGeom>
          <a:noFill/>
        </p:spPr>
        <p:txBody>
          <a:bodyPr wrap="none" rtlCol="0">
            <a:spAutoFit/>
          </a:bodyPr>
          <a:lstStyle/>
          <a:p>
            <a:r>
              <a:rPr lang="en-GB" dirty="0"/>
              <a:t>D</a:t>
            </a:r>
            <a:r>
              <a:rPr lang="en-EE" dirty="0"/>
              <a:t>ataset:</a:t>
            </a:r>
          </a:p>
        </p:txBody>
      </p:sp>
      <p:sp>
        <p:nvSpPr>
          <p:cNvPr id="15" name="TextBox 14">
            <a:extLst>
              <a:ext uri="{FF2B5EF4-FFF2-40B4-BE49-F238E27FC236}">
                <a16:creationId xmlns:a16="http://schemas.microsoft.com/office/drawing/2014/main" id="{D3FA1A86-EBD7-A293-541B-EA37F21EE637}"/>
              </a:ext>
            </a:extLst>
          </p:cNvPr>
          <p:cNvSpPr txBox="1"/>
          <p:nvPr/>
        </p:nvSpPr>
        <p:spPr>
          <a:xfrm>
            <a:off x="5447791" y="2732551"/>
            <a:ext cx="5350837" cy="2893100"/>
          </a:xfrm>
          <a:prstGeom prst="rect">
            <a:avLst/>
          </a:prstGeom>
          <a:noFill/>
        </p:spPr>
        <p:txBody>
          <a:bodyPr wrap="square" rtlCol="0">
            <a:spAutoFit/>
          </a:bodyPr>
          <a:lstStyle/>
          <a:p>
            <a:r>
              <a:rPr lang="en-EE" sz="2800" b="1" dirty="0"/>
              <a:t>HW</a:t>
            </a:r>
          </a:p>
          <a:p>
            <a:endParaRPr lang="en-EE" dirty="0"/>
          </a:p>
          <a:p>
            <a:pPr marL="285750" indent="-285750">
              <a:spcAft>
                <a:spcPts val="1200"/>
              </a:spcAft>
              <a:buFont typeface="Arial" panose="020B0604020202020204" pitchFamily="34" charset="0"/>
              <a:buChar char="•"/>
            </a:pPr>
            <a:r>
              <a:rPr lang="en-GB" sz="1600" dirty="0"/>
              <a:t>Well-documented and reproducible code, including clear variable names and informative comments</a:t>
            </a:r>
          </a:p>
          <a:p>
            <a:pPr marL="285750" indent="-285750">
              <a:spcAft>
                <a:spcPts val="1200"/>
              </a:spcAft>
              <a:buFont typeface="Arial" panose="020B0604020202020204" pitchFamily="34" charset="0"/>
              <a:buChar char="•"/>
            </a:pPr>
            <a:r>
              <a:rPr lang="en-GB" sz="1600" dirty="0"/>
              <a:t>A concise written report summarizing your analyses, key results, biological interpretations, and limitations of the dataset</a:t>
            </a:r>
            <a:endParaRPr lang="en-GB" dirty="0"/>
          </a:p>
          <a:p>
            <a:r>
              <a:rPr lang="en-GB" b="1" dirty="0"/>
              <a:t>Deadline: </a:t>
            </a:r>
            <a:r>
              <a:rPr lang="en-GB" dirty="0"/>
              <a:t>12-02-26</a:t>
            </a:r>
          </a:p>
          <a:p>
            <a:endParaRPr lang="en-EE" dirty="0"/>
          </a:p>
        </p:txBody>
      </p:sp>
    </p:spTree>
    <p:extLst>
      <p:ext uri="{BB962C8B-B14F-4D97-AF65-F5344CB8AC3E}">
        <p14:creationId xmlns:p14="http://schemas.microsoft.com/office/powerpoint/2010/main" val="14823234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873</TotalTime>
  <Words>2273</Words>
  <Application>Microsoft Macintosh PowerPoint</Application>
  <PresentationFormat>Widescreen</PresentationFormat>
  <Paragraphs>171</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Andale Mono</vt:lpstr>
      <vt:lpstr>Aptos</vt:lpstr>
      <vt:lpstr>Aptos Display</vt:lpstr>
      <vt:lpstr>Arial</vt:lpstr>
      <vt:lpstr>Biome</vt:lpstr>
      <vt:lpstr>Office Theme</vt:lpstr>
      <vt:lpstr>Data analysis Lecture 2</vt:lpstr>
      <vt:lpstr>GitHub https://github.com  Visual Studio Code https://code.visualstudio.com</vt:lpstr>
      <vt:lpstr>GitHub https://github.com/Chartiza/KSE_microbiome  </vt:lpstr>
      <vt:lpstr>Feedback</vt:lpstr>
      <vt:lpstr>Metalog. Open-source data</vt:lpstr>
      <vt:lpstr>Metalog. Open-source data</vt:lpstr>
      <vt:lpstr>Metalog. Open-source data</vt:lpstr>
      <vt:lpstr>Metalog. Open-source data</vt:lpstr>
      <vt:lpstr>Metalog. Open-source data</vt:lpstr>
      <vt:lpstr>Metalog. Open-source data</vt:lpstr>
      <vt:lpstr>Metalog. Open-source data</vt:lpstr>
      <vt:lpstr>Metalog. Open-source data</vt:lpstr>
      <vt:lpstr>Metalog. Open-source data</vt:lpstr>
      <vt:lpstr>Metalog. Open-source data</vt:lpstr>
      <vt:lpstr>Metalog. Open-source data</vt:lpstr>
      <vt:lpstr>Metalog. Open-source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Kateryna Pantiukh</dc:creator>
  <cp:lastModifiedBy>Kateryna Pantiukh</cp:lastModifiedBy>
  <cp:revision>34</cp:revision>
  <dcterms:created xsi:type="dcterms:W3CDTF">2025-12-07T21:13:29Z</dcterms:created>
  <dcterms:modified xsi:type="dcterms:W3CDTF">2026-02-05T09:24:44Z</dcterms:modified>
</cp:coreProperties>
</file>